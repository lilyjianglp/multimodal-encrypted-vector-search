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13"/>
  </p:notesMasterIdLst>
  <p:handoutMasterIdLst>
    <p:handoutMasterId r:id="rId34"/>
  </p:handoutMasterIdLst>
  <p:sldIdLst>
    <p:sldId id="511" r:id="rId4"/>
    <p:sldId id="529" r:id="rId5"/>
    <p:sldId id="530" r:id="rId6"/>
    <p:sldId id="586" r:id="rId7"/>
    <p:sldId id="616" r:id="rId8"/>
    <p:sldId id="584" r:id="rId9"/>
    <p:sldId id="532" r:id="rId10"/>
    <p:sldId id="617" r:id="rId11"/>
    <p:sldId id="618" r:id="rId12"/>
    <p:sldId id="620" r:id="rId14"/>
    <p:sldId id="621" r:id="rId15"/>
    <p:sldId id="622" r:id="rId16"/>
    <p:sldId id="623" r:id="rId17"/>
    <p:sldId id="636" r:id="rId18"/>
    <p:sldId id="625" r:id="rId19"/>
    <p:sldId id="538" r:id="rId20"/>
    <p:sldId id="629" r:id="rId21"/>
    <p:sldId id="630" r:id="rId22"/>
    <p:sldId id="642" r:id="rId23"/>
    <p:sldId id="631" r:id="rId24"/>
    <p:sldId id="633" r:id="rId25"/>
    <p:sldId id="602" r:id="rId26"/>
    <p:sldId id="626" r:id="rId27"/>
    <p:sldId id="635" r:id="rId28"/>
    <p:sldId id="615" r:id="rId29"/>
    <p:sldId id="522" r:id="rId30"/>
    <p:sldId id="637" r:id="rId31"/>
    <p:sldId id="537" r:id="rId32"/>
    <p:sldId id="640" r:id="rId3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4" userDrawn="1">
          <p15:clr>
            <a:srgbClr val="A4A3A4"/>
          </p15:clr>
        </p15:guide>
        <p15:guide id="2" pos="5616" userDrawn="1">
          <p15:clr>
            <a:srgbClr val="A4A3A4"/>
          </p15:clr>
        </p15:guide>
        <p15:guide id="3" orient="horz" pos="226" userDrawn="1">
          <p15:clr>
            <a:srgbClr val="A4A3A4"/>
          </p15:clr>
        </p15:guide>
        <p15:guide id="4" orient="horz" pos="3151" userDrawn="1">
          <p15:clr>
            <a:srgbClr val="A4A3A4"/>
          </p15:clr>
        </p15:guide>
        <p15:guide id="5" pos="3114" userDrawn="1">
          <p15:clr>
            <a:srgbClr val="A4A3A4"/>
          </p15:clr>
        </p15:guide>
        <p15:guide id="6" orient="horz" pos="2732" userDrawn="1">
          <p15:clr>
            <a:srgbClr val="A4A3A4"/>
          </p15:clr>
        </p15:guide>
        <p15:guide id="7" orient="horz" pos="28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437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56" autoAdjust="0"/>
  </p:normalViewPr>
  <p:slideViewPr>
    <p:cSldViewPr snapToGrid="0" showGuides="1">
      <p:cViewPr varScale="1">
        <p:scale>
          <a:sx n="80" d="100"/>
          <a:sy n="80" d="100"/>
        </p:scale>
        <p:origin x="341" y="58"/>
      </p:cViewPr>
      <p:guideLst>
        <p:guide pos="164"/>
        <p:guide pos="5616"/>
        <p:guide orient="horz" pos="226"/>
        <p:guide orient="horz" pos="3151"/>
        <p:guide pos="3114"/>
        <p:guide orient="horz" pos="2732"/>
        <p:guide orient="horz" pos="28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5803146-42E8-4762-AC50-92C136F6E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 pitchFamily="2" charset="2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55004"/>
            <a:ext cx="9143999" cy="28884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323664" y="1380329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1"/>
          </p:nvPr>
        </p:nvSpPr>
        <p:spPr>
          <a:xfrm>
            <a:off x="3197087" y="1380328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2"/>
          </p:nvPr>
        </p:nvSpPr>
        <p:spPr>
          <a:xfrm>
            <a:off x="6070509" y="1380329"/>
            <a:ext cx="2749826" cy="150333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669989D-4831-4E99-B76E-9A53CB0F3A8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E3F9CDB-1F21-4789-A81E-8FEA25CE194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5.pn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openxmlformats.org/officeDocument/2006/relationships/tags" Target="../tags/tag24.xml"/><Relationship Id="rId10" Type="http://schemas.openxmlformats.org/officeDocument/2006/relationships/image" Target="../media/image6.jpeg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24.jpeg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51510" y="2687596"/>
            <a:ext cx="78409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密态向量近邻检索算法设计与实现</a:t>
            </a:r>
            <a:endParaRPr lang="zh-CN" altLang="en-US" sz="40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47470" y="3412490"/>
            <a:ext cx="65792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Privacy-Preserving Encrypted Vector Nearest Neighbor Search Algorithm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738489" y="766689"/>
            <a:ext cx="1673695" cy="1667021"/>
          </a:xfrm>
          <a:prstGeom prst="ellipse">
            <a:avLst/>
          </a:prstGeom>
          <a:ln w="57150">
            <a:solidFill>
              <a:srgbClr val="EEF2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91"/>
          <p:cNvSpPr/>
          <p:nvPr/>
        </p:nvSpPr>
        <p:spPr bwMode="auto">
          <a:xfrm>
            <a:off x="4340208" y="1428800"/>
            <a:ext cx="463611" cy="342763"/>
          </a:xfrm>
          <a:custGeom>
            <a:avLst/>
            <a:gdLst>
              <a:gd name="T0" fmla="*/ 938 w 953"/>
              <a:gd name="T1" fmla="*/ 198 h 704"/>
              <a:gd name="T2" fmla="*/ 485 w 953"/>
              <a:gd name="T3" fmla="*/ 3 h 704"/>
              <a:gd name="T4" fmla="*/ 477 w 953"/>
              <a:gd name="T5" fmla="*/ 0 h 704"/>
              <a:gd name="T6" fmla="*/ 468 w 953"/>
              <a:gd name="T7" fmla="*/ 3 h 704"/>
              <a:gd name="T8" fmla="*/ 15 w 953"/>
              <a:gd name="T9" fmla="*/ 198 h 704"/>
              <a:gd name="T10" fmla="*/ 0 w 953"/>
              <a:gd name="T11" fmla="*/ 223 h 704"/>
              <a:gd name="T12" fmla="*/ 15 w 953"/>
              <a:gd name="T13" fmla="*/ 249 h 704"/>
              <a:gd name="T14" fmla="*/ 468 w 953"/>
              <a:gd name="T15" fmla="*/ 444 h 704"/>
              <a:gd name="T16" fmla="*/ 485 w 953"/>
              <a:gd name="T17" fmla="*/ 444 h 704"/>
              <a:gd name="T18" fmla="*/ 838 w 953"/>
              <a:gd name="T19" fmla="*/ 293 h 704"/>
              <a:gd name="T20" fmla="*/ 838 w 953"/>
              <a:gd name="T21" fmla="*/ 448 h 704"/>
              <a:gd name="T22" fmla="*/ 805 w 953"/>
              <a:gd name="T23" fmla="*/ 505 h 704"/>
              <a:gd name="T24" fmla="*/ 838 w 953"/>
              <a:gd name="T25" fmla="*/ 562 h 704"/>
              <a:gd name="T26" fmla="*/ 838 w 953"/>
              <a:gd name="T27" fmla="*/ 615 h 704"/>
              <a:gd name="T28" fmla="*/ 884 w 953"/>
              <a:gd name="T29" fmla="*/ 615 h 704"/>
              <a:gd name="T30" fmla="*/ 884 w 953"/>
              <a:gd name="T31" fmla="*/ 562 h 704"/>
              <a:gd name="T32" fmla="*/ 915 w 953"/>
              <a:gd name="T33" fmla="*/ 505 h 704"/>
              <a:gd name="T34" fmla="*/ 884 w 953"/>
              <a:gd name="T35" fmla="*/ 448 h 704"/>
              <a:gd name="T36" fmla="*/ 884 w 953"/>
              <a:gd name="T37" fmla="*/ 272 h 704"/>
              <a:gd name="T38" fmla="*/ 938 w 953"/>
              <a:gd name="T39" fmla="*/ 249 h 704"/>
              <a:gd name="T40" fmla="*/ 953 w 953"/>
              <a:gd name="T41" fmla="*/ 223 h 704"/>
              <a:gd name="T42" fmla="*/ 938 w 953"/>
              <a:gd name="T43" fmla="*/ 198 h 704"/>
              <a:gd name="T44" fmla="*/ 477 w 953"/>
              <a:gd name="T45" fmla="*/ 483 h 704"/>
              <a:gd name="T46" fmla="*/ 457 w 953"/>
              <a:gd name="T47" fmla="*/ 479 h 704"/>
              <a:gd name="T48" fmla="*/ 174 w 953"/>
              <a:gd name="T49" fmla="*/ 358 h 704"/>
              <a:gd name="T50" fmla="*/ 174 w 953"/>
              <a:gd name="T51" fmla="*/ 526 h 704"/>
              <a:gd name="T52" fmla="*/ 445 w 953"/>
              <a:gd name="T53" fmla="*/ 704 h 704"/>
              <a:gd name="T54" fmla="*/ 509 w 953"/>
              <a:gd name="T55" fmla="*/ 704 h 704"/>
              <a:gd name="T56" fmla="*/ 779 w 953"/>
              <a:gd name="T57" fmla="*/ 526 h 704"/>
              <a:gd name="T58" fmla="*/ 779 w 953"/>
              <a:gd name="T59" fmla="*/ 358 h 704"/>
              <a:gd name="T60" fmla="*/ 496 w 953"/>
              <a:gd name="T61" fmla="*/ 479 h 704"/>
              <a:gd name="T62" fmla="*/ 477 w 953"/>
              <a:gd name="T63" fmla="*/ 483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3" h="704">
                <a:moveTo>
                  <a:pt x="938" y="198"/>
                </a:moveTo>
                <a:cubicBezTo>
                  <a:pt x="485" y="3"/>
                  <a:pt x="485" y="3"/>
                  <a:pt x="485" y="3"/>
                </a:cubicBezTo>
                <a:cubicBezTo>
                  <a:pt x="483" y="2"/>
                  <a:pt x="480" y="0"/>
                  <a:pt x="477" y="0"/>
                </a:cubicBezTo>
                <a:cubicBezTo>
                  <a:pt x="473" y="0"/>
                  <a:pt x="470" y="2"/>
                  <a:pt x="468" y="3"/>
                </a:cubicBezTo>
                <a:cubicBezTo>
                  <a:pt x="15" y="198"/>
                  <a:pt x="15" y="198"/>
                  <a:pt x="15" y="198"/>
                </a:cubicBezTo>
                <a:cubicBezTo>
                  <a:pt x="5" y="202"/>
                  <a:pt x="0" y="211"/>
                  <a:pt x="0" y="223"/>
                </a:cubicBezTo>
                <a:cubicBezTo>
                  <a:pt x="0" y="234"/>
                  <a:pt x="5" y="245"/>
                  <a:pt x="15" y="249"/>
                </a:cubicBezTo>
                <a:cubicBezTo>
                  <a:pt x="468" y="444"/>
                  <a:pt x="468" y="444"/>
                  <a:pt x="468" y="444"/>
                </a:cubicBezTo>
                <a:cubicBezTo>
                  <a:pt x="473" y="447"/>
                  <a:pt x="480" y="447"/>
                  <a:pt x="485" y="444"/>
                </a:cubicBezTo>
                <a:cubicBezTo>
                  <a:pt x="838" y="293"/>
                  <a:pt x="838" y="293"/>
                  <a:pt x="838" y="293"/>
                </a:cubicBezTo>
                <a:cubicBezTo>
                  <a:pt x="838" y="448"/>
                  <a:pt x="838" y="448"/>
                  <a:pt x="838" y="448"/>
                </a:cubicBezTo>
                <a:cubicBezTo>
                  <a:pt x="819" y="457"/>
                  <a:pt x="805" y="479"/>
                  <a:pt x="805" y="505"/>
                </a:cubicBezTo>
                <a:cubicBezTo>
                  <a:pt x="805" y="530"/>
                  <a:pt x="819" y="551"/>
                  <a:pt x="838" y="562"/>
                </a:cubicBezTo>
                <a:cubicBezTo>
                  <a:pt x="838" y="615"/>
                  <a:pt x="838" y="615"/>
                  <a:pt x="838" y="615"/>
                </a:cubicBezTo>
                <a:cubicBezTo>
                  <a:pt x="884" y="615"/>
                  <a:pt x="884" y="615"/>
                  <a:pt x="884" y="615"/>
                </a:cubicBezTo>
                <a:cubicBezTo>
                  <a:pt x="884" y="562"/>
                  <a:pt x="884" y="562"/>
                  <a:pt x="884" y="562"/>
                </a:cubicBezTo>
                <a:cubicBezTo>
                  <a:pt x="903" y="551"/>
                  <a:pt x="915" y="530"/>
                  <a:pt x="915" y="505"/>
                </a:cubicBezTo>
                <a:cubicBezTo>
                  <a:pt x="915" y="479"/>
                  <a:pt x="903" y="457"/>
                  <a:pt x="884" y="448"/>
                </a:cubicBezTo>
                <a:cubicBezTo>
                  <a:pt x="884" y="272"/>
                  <a:pt x="884" y="272"/>
                  <a:pt x="884" y="272"/>
                </a:cubicBezTo>
                <a:cubicBezTo>
                  <a:pt x="938" y="249"/>
                  <a:pt x="938" y="249"/>
                  <a:pt x="938" y="249"/>
                </a:cubicBezTo>
                <a:cubicBezTo>
                  <a:pt x="948" y="245"/>
                  <a:pt x="953" y="234"/>
                  <a:pt x="953" y="223"/>
                </a:cubicBezTo>
                <a:cubicBezTo>
                  <a:pt x="953" y="211"/>
                  <a:pt x="948" y="202"/>
                  <a:pt x="938" y="198"/>
                </a:cubicBezTo>
                <a:close/>
                <a:moveTo>
                  <a:pt x="477" y="483"/>
                </a:moveTo>
                <a:cubicBezTo>
                  <a:pt x="470" y="483"/>
                  <a:pt x="462" y="482"/>
                  <a:pt x="457" y="479"/>
                </a:cubicBezTo>
                <a:cubicBezTo>
                  <a:pt x="174" y="358"/>
                  <a:pt x="174" y="358"/>
                  <a:pt x="174" y="358"/>
                </a:cubicBezTo>
                <a:cubicBezTo>
                  <a:pt x="174" y="526"/>
                  <a:pt x="174" y="526"/>
                  <a:pt x="174" y="526"/>
                </a:cubicBezTo>
                <a:cubicBezTo>
                  <a:pt x="174" y="663"/>
                  <a:pt x="381" y="704"/>
                  <a:pt x="445" y="704"/>
                </a:cubicBezTo>
                <a:cubicBezTo>
                  <a:pt x="509" y="704"/>
                  <a:pt x="509" y="704"/>
                  <a:pt x="509" y="704"/>
                </a:cubicBezTo>
                <a:cubicBezTo>
                  <a:pt x="558" y="704"/>
                  <a:pt x="779" y="663"/>
                  <a:pt x="779" y="526"/>
                </a:cubicBezTo>
                <a:cubicBezTo>
                  <a:pt x="779" y="358"/>
                  <a:pt x="779" y="358"/>
                  <a:pt x="779" y="358"/>
                </a:cubicBezTo>
                <a:cubicBezTo>
                  <a:pt x="496" y="479"/>
                  <a:pt x="496" y="479"/>
                  <a:pt x="496" y="479"/>
                </a:cubicBezTo>
                <a:cubicBezTo>
                  <a:pt x="491" y="482"/>
                  <a:pt x="484" y="483"/>
                  <a:pt x="477" y="4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六角星 9"/>
          <p:cNvSpPr/>
          <p:nvPr userDrawn="1"/>
        </p:nvSpPr>
        <p:spPr>
          <a:xfrm>
            <a:off x="3864463" y="818220"/>
            <a:ext cx="1434991" cy="1563923"/>
          </a:xfrm>
          <a:prstGeom prst="star6">
            <a:avLst/>
          </a:prstGeom>
          <a:noFill/>
          <a:ln w="12700" cap="flat" cmpd="sng" algn="ctr">
            <a:solidFill>
              <a:schemeClr val="bg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20"/>
          <p:cNvSpPr/>
          <p:nvPr>
            <p:custDataLst>
              <p:tags r:id="rId1"/>
            </p:custDataLst>
          </p:nvPr>
        </p:nvSpPr>
        <p:spPr>
          <a:xfrm>
            <a:off x="3489460" y="3645681"/>
            <a:ext cx="2932720" cy="468853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endParaRPr lang="zh-CN" altLang="en-US" sz="2700" dirty="0">
              <a:cs typeface="+mn-ea"/>
              <a:sym typeface="+mn-lt"/>
            </a:endParaRPr>
          </a:p>
        </p:txBody>
      </p:sp>
      <p:sp>
        <p:nvSpPr>
          <p:cNvPr id="21" name="圆角矩形 24"/>
          <p:cNvSpPr/>
          <p:nvPr>
            <p:custDataLst>
              <p:tags r:id="rId2"/>
            </p:custDataLst>
          </p:nvPr>
        </p:nvSpPr>
        <p:spPr>
          <a:xfrm>
            <a:off x="3489460" y="2982373"/>
            <a:ext cx="2932720" cy="452341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endParaRPr lang="zh-CN" altLang="en-US" sz="2700" dirty="0">
              <a:cs typeface="+mn-ea"/>
              <a:sym typeface="+mn-lt"/>
            </a:endParaRPr>
          </a:p>
        </p:txBody>
      </p:sp>
      <p:sp>
        <p:nvSpPr>
          <p:cNvPr id="23" name="圆角矩形 17"/>
          <p:cNvSpPr/>
          <p:nvPr>
            <p:custDataLst>
              <p:tags r:id="rId3"/>
            </p:custDataLst>
          </p:nvPr>
        </p:nvSpPr>
        <p:spPr>
          <a:xfrm>
            <a:off x="3471546" y="2317915"/>
            <a:ext cx="2932720" cy="452342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endParaRPr lang="zh-CN" altLang="en-US" sz="27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4936767"/>
            <a:ext cx="9144001" cy="197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-17139"/>
            <a:ext cx="9144001" cy="1491176"/>
          </a:xfrm>
          <a:prstGeom prst="rect">
            <a:avLst/>
          </a:prstGeom>
          <a:solidFill>
            <a:schemeClr val="accent1"/>
          </a:solidFill>
          <a:ln>
            <a:solidFill>
              <a:srgbClr val="3043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组合 122"/>
          <p:cNvGrpSpPr/>
          <p:nvPr/>
        </p:nvGrpSpPr>
        <p:grpSpPr>
          <a:xfrm>
            <a:off x="3553326" y="317817"/>
            <a:ext cx="2037347" cy="922899"/>
            <a:chOff x="545027" y="2000145"/>
            <a:chExt cx="2037347" cy="922899"/>
          </a:xfrm>
        </p:grpSpPr>
        <p:sp>
          <p:nvSpPr>
            <p:cNvPr id="124" name="矩形 123"/>
            <p:cNvSpPr/>
            <p:nvPr/>
          </p:nvSpPr>
          <p:spPr bwMode="auto">
            <a:xfrm>
              <a:off x="884959" y="2000145"/>
              <a:ext cx="1362874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4000" kern="100" dirty="0">
                  <a:solidFill>
                    <a:schemeClr val="bg1"/>
                  </a:solidFill>
                  <a:latin typeface="思源宋体 CN Heavy" pitchFamily="18" charset="-122"/>
                  <a:ea typeface="思源宋体 CN Heavy" pitchFamily="18" charset="-122"/>
                  <a:cs typeface="汉仪旗黑-50S"/>
                </a:rPr>
                <a:t>目 录</a:t>
              </a:r>
              <a:endParaRPr lang="en-US" altLang="zh-CN" sz="4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汉仪旗黑-50S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45027" y="2615267"/>
              <a:ext cx="203734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dist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汉仪旗黑-50S"/>
                </a:rPr>
                <a:t>CONTENTS</a:t>
              </a:r>
              <a:endPara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旗黑-50S"/>
              </a:endParaRPr>
            </a:p>
          </p:txBody>
        </p:sp>
      </p:grpSp>
      <p:sp>
        <p:nvSpPr>
          <p:cNvPr id="142" name="文本框 6"/>
          <p:cNvSpPr txBox="1"/>
          <p:nvPr>
            <p:custDataLst>
              <p:tags r:id="rId4"/>
            </p:custDataLst>
          </p:nvPr>
        </p:nvSpPr>
        <p:spPr bwMode="auto">
          <a:xfrm>
            <a:off x="3712004" y="2337748"/>
            <a:ext cx="1889572" cy="3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b="1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6" name="圆角矩形 30"/>
          <p:cNvSpPr/>
          <p:nvPr>
            <p:custDataLst>
              <p:tags r:id="rId5"/>
            </p:custDataLst>
          </p:nvPr>
        </p:nvSpPr>
        <p:spPr>
          <a:xfrm>
            <a:off x="2721818" y="1700830"/>
            <a:ext cx="479212" cy="41671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r>
              <a:rPr lang="en-US" altLang="zh-CN" sz="2700" kern="100" dirty="0">
                <a:solidFill>
                  <a:schemeClr val="bg1"/>
                </a:solidFill>
                <a:ea typeface="思源宋体 CN Heavy" pitchFamily="18" charset="-122"/>
                <a:sym typeface="+mn-lt"/>
              </a:rPr>
              <a:t>1</a:t>
            </a:r>
            <a:endParaRPr lang="zh-CN" altLang="en-US" sz="2700" kern="100" dirty="0">
              <a:solidFill>
                <a:schemeClr val="bg1"/>
              </a:solidFill>
              <a:ea typeface="思源宋体 CN Heavy" pitchFamily="18" charset="-122"/>
              <a:sym typeface="+mn-lt"/>
            </a:endParaRPr>
          </a:p>
        </p:txBody>
      </p:sp>
      <p:sp>
        <p:nvSpPr>
          <p:cNvPr id="25" name="圆角矩形 16"/>
          <p:cNvSpPr/>
          <p:nvPr>
            <p:custDataLst>
              <p:tags r:id="rId6"/>
            </p:custDataLst>
          </p:nvPr>
        </p:nvSpPr>
        <p:spPr>
          <a:xfrm>
            <a:off x="3489460" y="1691317"/>
            <a:ext cx="2914806" cy="452342"/>
          </a:xfrm>
          <a:prstGeom prst="roundRect">
            <a:avLst/>
          </a:prstGeom>
          <a:solidFill>
            <a:srgbClr val="30437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endParaRPr lang="zh-CN" altLang="en-US" sz="2700" dirty="0">
              <a:cs typeface="+mn-ea"/>
              <a:sym typeface="+mn-lt"/>
            </a:endParaRPr>
          </a:p>
        </p:txBody>
      </p:sp>
      <p:sp>
        <p:nvSpPr>
          <p:cNvPr id="9" name="圆角矩形 32"/>
          <p:cNvSpPr/>
          <p:nvPr>
            <p:custDataLst>
              <p:tags r:id="rId7"/>
            </p:custDataLst>
          </p:nvPr>
        </p:nvSpPr>
        <p:spPr>
          <a:xfrm>
            <a:off x="2721818" y="2318330"/>
            <a:ext cx="491164" cy="41671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r>
              <a:rPr lang="en-US" altLang="zh-CN" sz="2700" kern="100" dirty="0">
                <a:solidFill>
                  <a:schemeClr val="bg1"/>
                </a:solidFill>
                <a:ea typeface="思源宋体 CN Heavy" pitchFamily="18" charset="-122"/>
                <a:sym typeface="+mn-lt"/>
              </a:rPr>
              <a:t>2</a:t>
            </a:r>
            <a:endParaRPr lang="en-US" altLang="zh-CN" sz="2700" kern="100" dirty="0">
              <a:solidFill>
                <a:schemeClr val="bg1"/>
              </a:solidFill>
              <a:ea typeface="思源宋体 CN Heavy" pitchFamily="18" charset="-122"/>
              <a:sym typeface="+mn-lt"/>
            </a:endParaRPr>
          </a:p>
        </p:txBody>
      </p:sp>
      <p:sp>
        <p:nvSpPr>
          <p:cNvPr id="11" name="圆角矩形 35"/>
          <p:cNvSpPr/>
          <p:nvPr>
            <p:custDataLst>
              <p:tags r:id="rId8"/>
            </p:custDataLst>
          </p:nvPr>
        </p:nvSpPr>
        <p:spPr>
          <a:xfrm>
            <a:off x="2723229" y="2976090"/>
            <a:ext cx="479212" cy="41671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r>
              <a:rPr lang="en-US" altLang="zh-CN" sz="2700" kern="100" dirty="0">
                <a:solidFill>
                  <a:schemeClr val="bg1"/>
                </a:solidFill>
                <a:ea typeface="思源宋体 CN Heavy" pitchFamily="18" charset="-122"/>
                <a:sym typeface="+mn-lt"/>
              </a:rPr>
              <a:t>3</a:t>
            </a:r>
            <a:endParaRPr lang="zh-CN" altLang="en-US" sz="2700" kern="100" dirty="0">
              <a:solidFill>
                <a:schemeClr val="bg1"/>
              </a:solidFill>
              <a:ea typeface="思源宋体 CN Heavy" pitchFamily="18" charset="-122"/>
              <a:sym typeface="+mn-lt"/>
            </a:endParaRPr>
          </a:p>
        </p:txBody>
      </p:sp>
      <p:sp>
        <p:nvSpPr>
          <p:cNvPr id="13" name="圆角矩形 37"/>
          <p:cNvSpPr/>
          <p:nvPr>
            <p:custDataLst>
              <p:tags r:id="rId9"/>
            </p:custDataLst>
          </p:nvPr>
        </p:nvSpPr>
        <p:spPr>
          <a:xfrm>
            <a:off x="2733771" y="3645681"/>
            <a:ext cx="479211" cy="43322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r>
              <a:rPr lang="en-US" altLang="zh-CN" sz="2700" kern="100" dirty="0">
                <a:solidFill>
                  <a:schemeClr val="bg1"/>
                </a:solidFill>
                <a:ea typeface="思源宋体 CN Heavy" pitchFamily="18" charset="-122"/>
                <a:sym typeface="+mn-lt"/>
              </a:rPr>
              <a:t>4</a:t>
            </a:r>
            <a:endParaRPr lang="en-US" altLang="zh-CN" sz="2700" kern="100" dirty="0">
              <a:solidFill>
                <a:schemeClr val="bg1"/>
              </a:solidFill>
              <a:ea typeface="思源宋体 CN Heavy" pitchFamily="18" charset="-122"/>
              <a:sym typeface="+mn-lt"/>
            </a:endParaRPr>
          </a:p>
        </p:txBody>
      </p:sp>
      <p:sp>
        <p:nvSpPr>
          <p:cNvPr id="15" name="圆角矩形 18"/>
          <p:cNvSpPr/>
          <p:nvPr>
            <p:custDataLst>
              <p:tags r:id="rId10"/>
            </p:custDataLst>
          </p:nvPr>
        </p:nvSpPr>
        <p:spPr>
          <a:xfrm>
            <a:off x="2733771" y="4302775"/>
            <a:ext cx="479309" cy="44017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r>
              <a:rPr lang="en-US" altLang="zh-CN" sz="2700" kern="100" dirty="0">
                <a:solidFill>
                  <a:schemeClr val="bg1"/>
                </a:solidFill>
                <a:ea typeface="思源宋体 CN Heavy" pitchFamily="18" charset="-122"/>
                <a:sym typeface="+mn-lt"/>
              </a:rPr>
              <a:t>5</a:t>
            </a:r>
            <a:endParaRPr lang="en-US" altLang="zh-CN" sz="2700" kern="100" dirty="0">
              <a:solidFill>
                <a:schemeClr val="bg1"/>
              </a:solidFill>
              <a:ea typeface="思源宋体 CN Heavy" pitchFamily="18" charset="-122"/>
              <a:sym typeface="+mn-lt"/>
            </a:endParaRPr>
          </a:p>
        </p:txBody>
      </p:sp>
      <p:sp>
        <p:nvSpPr>
          <p:cNvPr id="17" name="圆角矩形 23"/>
          <p:cNvSpPr/>
          <p:nvPr>
            <p:custDataLst>
              <p:tags r:id="rId11"/>
            </p:custDataLst>
          </p:nvPr>
        </p:nvSpPr>
        <p:spPr>
          <a:xfrm>
            <a:off x="3489460" y="4302775"/>
            <a:ext cx="2932720" cy="468852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1" rIns="91422" bIns="45711" anchor="ctr"/>
          <a:lstStyle/>
          <a:p>
            <a:pPr algn="ctr">
              <a:defRPr/>
            </a:pPr>
            <a:endParaRPr lang="zh-CN" altLang="en-US" sz="2700" dirty="0"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12147" y="1717433"/>
            <a:ext cx="6559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Arial" panose="020B0604020202020204"/>
                <a:sym typeface="汉仪旗黑-50S"/>
              </a:rPr>
              <a:t>背景与动机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Arial" panose="020B0604020202020204"/>
              <a:sym typeface="汉仪旗黑-50S"/>
            </a:endParaRPr>
          </a:p>
        </p:txBody>
      </p:sp>
      <p:sp>
        <p:nvSpPr>
          <p:cNvPr id="30" name="文本框 6"/>
          <p:cNvSpPr txBox="1"/>
          <p:nvPr>
            <p:custDataLst>
              <p:tags r:id="rId12"/>
            </p:custDataLst>
          </p:nvPr>
        </p:nvSpPr>
        <p:spPr bwMode="auto">
          <a:xfrm>
            <a:off x="3712337" y="4337146"/>
            <a:ext cx="18892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总结与展望</a:t>
            </a:r>
            <a:endParaRPr lang="zh-CN" altLang="en-US" sz="2000" b="1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35" name="文本框 6"/>
          <p:cNvSpPr txBox="1"/>
          <p:nvPr>
            <p:custDataLst>
              <p:tags r:id="rId13"/>
            </p:custDataLst>
          </p:nvPr>
        </p:nvSpPr>
        <p:spPr bwMode="auto">
          <a:xfrm>
            <a:off x="3712004" y="3017506"/>
            <a:ext cx="18895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b="1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36" name="文本框 6"/>
          <p:cNvSpPr txBox="1"/>
          <p:nvPr>
            <p:custDataLst>
              <p:tags r:id="rId14"/>
            </p:custDataLst>
          </p:nvPr>
        </p:nvSpPr>
        <p:spPr bwMode="auto">
          <a:xfrm>
            <a:off x="3701101" y="3662238"/>
            <a:ext cx="18895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作品演示</a:t>
            </a:r>
            <a:endParaRPr lang="zh-CN" altLang="en-US" sz="2000" b="1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01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069020" y="2617767"/>
            <a:ext cx="3005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cs typeface="汉仪旗黑-50S"/>
                <a:sym typeface="汉仪旗黑-50S"/>
              </a:rPr>
              <a:t>背景与动机</a:t>
            </a:r>
            <a:endParaRPr lang="zh-CN" altLang="en-US" sz="44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cs typeface="汉仪旗黑-50S"/>
              <a:sym typeface="汉仪旗黑-50S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005968" y="3372917"/>
            <a:ext cx="513206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Background &amp; Motivation</a:t>
            </a:r>
            <a:endParaRPr kumimoji="0" lang="en-US" altLang="zh-CN" sz="1200" b="0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第一单元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背景</a:t>
            </a:r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  <a:sym typeface="汉仪旗黑-50S"/>
              </a:rPr>
              <a:t>与动机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" b="41486"/>
          <a:stretch>
            <a:fillRect/>
          </a:stretch>
        </p:blipFill>
        <p:spPr>
          <a:xfrm>
            <a:off x="384427" y="2824478"/>
            <a:ext cx="4187573" cy="1960356"/>
          </a:xfrm>
          <a:prstGeom prst="roundRect">
            <a:avLst>
              <a:gd name="adj" fmla="val 7500"/>
            </a:avLst>
          </a:prstGeom>
          <a:effectLst>
            <a:outerShdw blurRad="190500" dist="63500" algn="l" rotWithShape="0">
              <a:srgbClr val="000000">
                <a:alpha val="30000"/>
              </a:srgbClr>
            </a:outerShdw>
          </a:effectLst>
        </p:spPr>
      </p:pic>
      <p:pic>
        <p:nvPicPr>
          <p:cNvPr id="12" name="图片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" t="2857" r="-2263" b="12390"/>
          <a:stretch>
            <a:fillRect/>
          </a:stretch>
        </p:blipFill>
        <p:spPr>
          <a:xfrm>
            <a:off x="4836085" y="636961"/>
            <a:ext cx="4187599" cy="4147873"/>
          </a:xfrm>
          <a:prstGeom prst="roundRect">
            <a:avLst>
              <a:gd name="adj" fmla="val 7500"/>
            </a:avLst>
          </a:prstGeom>
          <a:effectLst>
            <a:outerShdw blurRad="190500" dist="63500" algn="l" rotWithShape="0">
              <a:srgbClr val="000000">
                <a:alpha val="30000"/>
              </a:srgbClr>
            </a:outerShdw>
          </a:effectLst>
        </p:spPr>
      </p:pic>
      <p:sp>
        <p:nvSpPr>
          <p:cNvPr id="13" name="矩形 12"/>
          <p:cNvSpPr/>
          <p:nvPr/>
        </p:nvSpPr>
        <p:spPr bwMode="auto">
          <a:xfrm>
            <a:off x="133865" y="95405"/>
            <a:ext cx="69166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背景</a:t>
            </a:r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  <a:sym typeface="汉仪旗黑-50S"/>
              </a:rPr>
              <a:t>与动机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504681" y="296982"/>
            <a:ext cx="6369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141621" y="95405"/>
            <a:ext cx="3513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ea typeface="思源宋体 CN Heavy" pitchFamily="18" charset="-122"/>
                <a:cs typeface="Arial" panose="020B0604020202020204" pitchFamily="34" charset="0"/>
              </a:rPr>
              <a:t>真实案例引发的隐私困境</a:t>
            </a:r>
            <a:endParaRPr lang="zh-CN" altLang="en-US" sz="2000" kern="100" dirty="0">
              <a:solidFill>
                <a:schemeClr val="bg1"/>
              </a:solidFill>
              <a:ea typeface="思源宋体 CN Heavy" pitchFamily="18" charset="-122"/>
              <a:cs typeface="Arial" panose="020B0604020202020204" pitchFamily="34" charset="0"/>
            </a:endParaRPr>
          </a:p>
        </p:txBody>
      </p:sp>
      <p:sp>
        <p:nvSpPr>
          <p:cNvPr id="18" name="圆角矩形 13"/>
          <p:cNvSpPr/>
          <p:nvPr/>
        </p:nvSpPr>
        <p:spPr>
          <a:xfrm>
            <a:off x="384427" y="654206"/>
            <a:ext cx="4187573" cy="20934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25044" y="791804"/>
            <a:ext cx="3706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思源宋体 CN Heavy" pitchFamily="18" charset="-122"/>
              </a:rPr>
              <a:t>研究揭示</a:t>
            </a:r>
            <a:r>
              <a:rPr lang="zh-CN" altLang="en-US" dirty="0">
                <a:solidFill>
                  <a:schemeClr val="bg1"/>
                </a:solidFill>
                <a:ea typeface="思源宋体 CN Heavy" pitchFamily="18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ea typeface="思源宋体 CN Heavy" pitchFamily="18" charset="-122"/>
              </a:rPr>
              <a:t>76.3%</a:t>
            </a:r>
            <a:r>
              <a:rPr lang="en-US" altLang="zh-CN" dirty="0">
                <a:solidFill>
                  <a:schemeClr val="bg1"/>
                </a:solidFill>
                <a:ea typeface="思源宋体 CN Heavy" pitchFamily="18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ea typeface="思源宋体 CN Heavy" pitchFamily="18" charset="-122"/>
              </a:rPr>
              <a:t>的医学期刊病例照片，可通过 </a:t>
            </a:r>
            <a:r>
              <a:rPr lang="en-US" altLang="zh-CN" dirty="0">
                <a:solidFill>
                  <a:schemeClr val="bg1"/>
                </a:solidFill>
                <a:ea typeface="思源宋体 CN Heavy" pitchFamily="18" charset="-122"/>
              </a:rPr>
              <a:t>Google Images </a:t>
            </a:r>
            <a:r>
              <a:rPr lang="zh-CN" altLang="en-US" dirty="0">
                <a:solidFill>
                  <a:schemeClr val="bg1"/>
                </a:solidFill>
                <a:ea typeface="思源宋体 CN Heavy" pitchFamily="18" charset="-122"/>
              </a:rPr>
              <a:t>公开检索</a:t>
            </a:r>
            <a:endParaRPr lang="zh-CN" altLang="en-US" dirty="0">
              <a:solidFill>
                <a:schemeClr val="bg1"/>
              </a:solidFill>
              <a:ea typeface="思源宋体 CN Heavy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25044" y="1299635"/>
            <a:ext cx="3706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思源宋体 CN Heavy" pitchFamily="18" charset="-122"/>
              </a:rPr>
              <a:t>泄露路径：</a:t>
            </a:r>
            <a:r>
              <a:rPr lang="zh-CN" altLang="en-US" dirty="0">
                <a:solidFill>
                  <a:schemeClr val="bg1"/>
                </a:solidFill>
                <a:ea typeface="思源宋体 CN Heavy" pitchFamily="18" charset="-122"/>
              </a:rPr>
              <a:t>非黑客攻击，而是检索系统与访问路径成为隐私泄露入口</a:t>
            </a:r>
            <a:endParaRPr lang="zh-CN" altLang="en-US" dirty="0">
              <a:solidFill>
                <a:schemeClr val="bg1"/>
              </a:solidFill>
              <a:ea typeface="思源宋体 CN Heavy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5044" y="1902872"/>
            <a:ext cx="3706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a typeface="思源宋体 CN Heavy" pitchFamily="18" charset="-122"/>
              </a:rPr>
              <a:t>本质问题：</a:t>
            </a:r>
            <a:r>
              <a:rPr lang="zh-CN" altLang="en-US" dirty="0">
                <a:solidFill>
                  <a:schemeClr val="bg1"/>
                </a:solidFill>
                <a:ea typeface="思源宋体 CN Heavy" pitchFamily="18" charset="-122"/>
              </a:rPr>
              <a:t>查询行为本身，已构成隐私暴露风险</a:t>
            </a:r>
            <a:endParaRPr lang="zh-CN" altLang="en-US" dirty="0">
              <a:solidFill>
                <a:schemeClr val="bg1"/>
              </a:solidFill>
              <a:ea typeface="思源宋体 CN Heavy" pitchFamily="18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2"/>
          <p:cNvSpPr/>
          <p:nvPr/>
        </p:nvSpPr>
        <p:spPr>
          <a:xfrm>
            <a:off x="133865" y="654206"/>
            <a:ext cx="3913505" cy="4353560"/>
          </a:xfrm>
          <a:prstGeom prst="roundRect">
            <a:avLst/>
          </a:prstGeom>
          <a:solidFill>
            <a:schemeClr val="tx2">
              <a:lumMod val="90000"/>
              <a:alpha val="100000"/>
            </a:schemeClr>
          </a:solidFill>
          <a:ln w="12700" cap="flat" cmpd="sng" algn="ctr">
            <a:solidFill>
              <a:schemeClr val="tx2">
                <a:alpha val="100000"/>
              </a:schemeClr>
            </a:solidFill>
            <a:prstDash val="solid"/>
            <a:miter lim="800000"/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5" y="95405"/>
            <a:ext cx="69166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背景</a:t>
            </a:r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Arial" panose="020B0604020202020204" pitchFamily="34" charset="0"/>
                <a:sym typeface="汉仪旗黑-50S"/>
              </a:rPr>
              <a:t>与动机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249639" y="1842485"/>
            <a:ext cx="3791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查询向量本身通常包含高度敏感的信息，可能暴露个人隐私或机密数据。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515979" y="296982"/>
            <a:ext cx="541421" cy="61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515979" y="296982"/>
            <a:ext cx="7331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49171" y="95405"/>
            <a:ext cx="5029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ea typeface="思源宋体 CN Heavy" pitchFamily="18" charset="-122"/>
              </a:rPr>
              <a:t>隐藏在“查询”背后的向量检索隐私风险</a:t>
            </a:r>
            <a:endParaRPr lang="zh-CN" altLang="en-US" sz="2000" kern="100" dirty="0">
              <a:solidFill>
                <a:schemeClr val="bg1"/>
              </a:solidFill>
              <a:ea typeface="思源宋体 CN Heavy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9639" y="3790483"/>
            <a:ext cx="39135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仅暴露“检索行为”也可能泄露用户特征（如疾病症状、金融状况等）。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8600" y="2974876"/>
            <a:ext cx="3791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明文向量检索在隐私合规上已经无法满足要求。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5385" y="1026878"/>
            <a:ext cx="3791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医疗、金融、推荐系统、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等领域的大量应用依赖向量检索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" r="-274"/>
          <a:stretch>
            <a:fillRect/>
          </a:stretch>
        </p:blipFill>
        <p:spPr>
          <a:xfrm>
            <a:off x="4163144" y="1485900"/>
            <a:ext cx="4796149" cy="2769989"/>
          </a:xfrm>
          <a:prstGeom prst="roundRect">
            <a:avLst>
              <a:gd name="adj" fmla="val 4000"/>
            </a:avLst>
          </a:prstGeom>
          <a:effectLst>
            <a:outerShdw blurRad="190500" dist="63500" algn="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2"/>
          <p:cNvSpPr/>
          <p:nvPr/>
        </p:nvSpPr>
        <p:spPr>
          <a:xfrm>
            <a:off x="128044" y="1331773"/>
            <a:ext cx="2784927" cy="2663064"/>
          </a:xfrm>
          <a:prstGeom prst="roundRect">
            <a:avLst/>
          </a:prstGeom>
          <a:solidFill>
            <a:schemeClr val="tx2">
              <a:lumMod val="90000"/>
              <a:alpha val="100000"/>
            </a:schemeClr>
          </a:solidFill>
          <a:ln w="12700" cap="flat" cmpd="sng" algn="ctr">
            <a:solidFill>
              <a:schemeClr val="tx2">
                <a:alpha val="100000"/>
              </a:schemeClr>
            </a:solidFill>
            <a:prstDash val="solid"/>
            <a:miter lim="800000"/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作品动机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/>
        </p:nvCxnSpPr>
        <p:spPr>
          <a:xfrm>
            <a:off x="1259091" y="293175"/>
            <a:ext cx="6101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12262" y="88215"/>
            <a:ext cx="5851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ea typeface="思源宋体 CN Heavy" pitchFamily="18" charset="-122"/>
              </a:rPr>
              <a:t>密态向量检索系统技术演进与局限</a:t>
            </a:r>
            <a:endParaRPr lang="zh-CN" altLang="en-US" sz="2000" kern="100" dirty="0">
              <a:solidFill>
                <a:schemeClr val="bg1"/>
              </a:solidFill>
              <a:ea typeface="思源宋体 CN Heavy" pitchFamily="18" charset="-122"/>
            </a:endParaRPr>
          </a:p>
        </p:txBody>
      </p:sp>
      <p:sp>
        <p:nvSpPr>
          <p:cNvPr id="64" name="Freeform 6"/>
          <p:cNvSpPr/>
          <p:nvPr>
            <p:custDataLst>
              <p:tags r:id="rId1"/>
            </p:custDataLst>
          </p:nvPr>
        </p:nvSpPr>
        <p:spPr bwMode="auto">
          <a:xfrm>
            <a:off x="-187930" y="2803732"/>
            <a:ext cx="65755" cy="65755"/>
          </a:xfrm>
          <a:custGeom>
            <a:avLst/>
            <a:gdLst>
              <a:gd name="T0" fmla="*/ 2977 w 3763"/>
              <a:gd name="T1" fmla="*/ 40 h 3764"/>
              <a:gd name="T2" fmla="*/ 2305 w 3763"/>
              <a:gd name="T3" fmla="*/ 213 h 3764"/>
              <a:gd name="T4" fmla="*/ 1691 w 3763"/>
              <a:gd name="T5" fmla="*/ 509 h 3764"/>
              <a:gd name="T6" fmla="*/ 1151 w 3763"/>
              <a:gd name="T7" fmla="*/ 912 h 3764"/>
              <a:gd name="T8" fmla="*/ 697 w 3763"/>
              <a:gd name="T9" fmla="*/ 1411 h 3764"/>
              <a:gd name="T10" fmla="*/ 346 w 3763"/>
              <a:gd name="T11" fmla="*/ 1990 h 3764"/>
              <a:gd name="T12" fmla="*/ 110 w 3763"/>
              <a:gd name="T13" fmla="*/ 2635 h 3764"/>
              <a:gd name="T14" fmla="*/ 5 w 3763"/>
              <a:gd name="T15" fmla="*/ 3332 h 3764"/>
              <a:gd name="T16" fmla="*/ 3 w 3763"/>
              <a:gd name="T17" fmla="*/ 3551 h 3764"/>
              <a:gd name="T18" fmla="*/ 15 w 3763"/>
              <a:gd name="T19" fmla="*/ 3599 h 3764"/>
              <a:gd name="T20" fmla="*/ 36 w 3763"/>
              <a:gd name="T21" fmla="*/ 3643 h 3764"/>
              <a:gd name="T22" fmla="*/ 65 w 3763"/>
              <a:gd name="T23" fmla="*/ 3681 h 3764"/>
              <a:gd name="T24" fmla="*/ 100 w 3763"/>
              <a:gd name="T25" fmla="*/ 3713 h 3764"/>
              <a:gd name="T26" fmla="*/ 142 w 3763"/>
              <a:gd name="T27" fmla="*/ 3739 h 3764"/>
              <a:gd name="T28" fmla="*/ 188 w 3763"/>
              <a:gd name="T29" fmla="*/ 3756 h 3764"/>
              <a:gd name="T30" fmla="*/ 237 w 3763"/>
              <a:gd name="T31" fmla="*/ 3764 h 3764"/>
              <a:gd name="T32" fmla="*/ 289 w 3763"/>
              <a:gd name="T33" fmla="*/ 3761 h 3764"/>
              <a:gd name="T34" fmla="*/ 337 w 3763"/>
              <a:gd name="T35" fmla="*/ 3749 h 3764"/>
              <a:gd name="T36" fmla="*/ 381 w 3763"/>
              <a:gd name="T37" fmla="*/ 3728 h 3764"/>
              <a:gd name="T38" fmla="*/ 419 w 3763"/>
              <a:gd name="T39" fmla="*/ 3698 h 3764"/>
              <a:gd name="T40" fmla="*/ 451 w 3763"/>
              <a:gd name="T41" fmla="*/ 3663 h 3764"/>
              <a:gd name="T42" fmla="*/ 476 w 3763"/>
              <a:gd name="T43" fmla="*/ 3621 h 3764"/>
              <a:gd name="T44" fmla="*/ 493 w 3763"/>
              <a:gd name="T45" fmla="*/ 3576 h 3764"/>
              <a:gd name="T46" fmla="*/ 501 w 3763"/>
              <a:gd name="T47" fmla="*/ 3526 h 3764"/>
              <a:gd name="T48" fmla="*/ 537 w 3763"/>
              <a:gd name="T49" fmla="*/ 3054 h 3764"/>
              <a:gd name="T50" fmla="*/ 684 w 3763"/>
              <a:gd name="T51" fmla="*/ 2478 h 3764"/>
              <a:gd name="T52" fmla="*/ 937 w 3763"/>
              <a:gd name="T53" fmla="*/ 1952 h 3764"/>
              <a:gd name="T54" fmla="*/ 1283 w 3763"/>
              <a:gd name="T55" fmla="*/ 1488 h 3764"/>
              <a:gd name="T56" fmla="*/ 1711 w 3763"/>
              <a:gd name="T57" fmla="*/ 1100 h 3764"/>
              <a:gd name="T58" fmla="*/ 2208 w 3763"/>
              <a:gd name="T59" fmla="*/ 799 h 3764"/>
              <a:gd name="T60" fmla="*/ 2760 w 3763"/>
              <a:gd name="T61" fmla="*/ 596 h 3764"/>
              <a:gd name="T62" fmla="*/ 3358 w 3763"/>
              <a:gd name="T63" fmla="*/ 506 h 3764"/>
              <a:gd name="T64" fmla="*/ 3550 w 3763"/>
              <a:gd name="T65" fmla="*/ 499 h 3764"/>
              <a:gd name="T66" fmla="*/ 3599 w 3763"/>
              <a:gd name="T67" fmla="*/ 487 h 3764"/>
              <a:gd name="T68" fmla="*/ 3643 w 3763"/>
              <a:gd name="T69" fmla="*/ 466 h 3764"/>
              <a:gd name="T70" fmla="*/ 3681 w 3763"/>
              <a:gd name="T71" fmla="*/ 437 h 3764"/>
              <a:gd name="T72" fmla="*/ 3713 w 3763"/>
              <a:gd name="T73" fmla="*/ 402 h 3764"/>
              <a:gd name="T74" fmla="*/ 3738 w 3763"/>
              <a:gd name="T75" fmla="*/ 359 h 3764"/>
              <a:gd name="T76" fmla="*/ 3755 w 3763"/>
              <a:gd name="T77" fmla="*/ 313 h 3764"/>
              <a:gd name="T78" fmla="*/ 3763 w 3763"/>
              <a:gd name="T79" fmla="*/ 264 h 3764"/>
              <a:gd name="T80" fmla="*/ 3760 w 3763"/>
              <a:gd name="T81" fmla="*/ 213 h 3764"/>
              <a:gd name="T82" fmla="*/ 3748 w 3763"/>
              <a:gd name="T83" fmla="*/ 165 h 3764"/>
              <a:gd name="T84" fmla="*/ 3727 w 3763"/>
              <a:gd name="T85" fmla="*/ 120 h 3764"/>
              <a:gd name="T86" fmla="*/ 3698 w 3763"/>
              <a:gd name="T87" fmla="*/ 82 h 3764"/>
              <a:gd name="T88" fmla="*/ 3663 w 3763"/>
              <a:gd name="T89" fmla="*/ 50 h 3764"/>
              <a:gd name="T90" fmla="*/ 3621 w 3763"/>
              <a:gd name="T91" fmla="*/ 25 h 3764"/>
              <a:gd name="T92" fmla="*/ 3574 w 3763"/>
              <a:gd name="T93" fmla="*/ 8 h 3764"/>
              <a:gd name="T94" fmla="*/ 3525 w 3763"/>
              <a:gd name="T95" fmla="*/ 0 h 3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763" h="3764">
                <a:moveTo>
                  <a:pt x="3512" y="0"/>
                </a:moveTo>
                <a:lnTo>
                  <a:pt x="3332" y="5"/>
                </a:lnTo>
                <a:lnTo>
                  <a:pt x="3153" y="18"/>
                </a:lnTo>
                <a:lnTo>
                  <a:pt x="2977" y="40"/>
                </a:lnTo>
                <a:lnTo>
                  <a:pt x="2805" y="71"/>
                </a:lnTo>
                <a:lnTo>
                  <a:pt x="2634" y="110"/>
                </a:lnTo>
                <a:lnTo>
                  <a:pt x="2467" y="158"/>
                </a:lnTo>
                <a:lnTo>
                  <a:pt x="2305" y="213"/>
                </a:lnTo>
                <a:lnTo>
                  <a:pt x="2145" y="276"/>
                </a:lnTo>
                <a:lnTo>
                  <a:pt x="1990" y="346"/>
                </a:lnTo>
                <a:lnTo>
                  <a:pt x="1838" y="424"/>
                </a:lnTo>
                <a:lnTo>
                  <a:pt x="1691" y="509"/>
                </a:lnTo>
                <a:lnTo>
                  <a:pt x="1548" y="600"/>
                </a:lnTo>
                <a:lnTo>
                  <a:pt x="1411" y="698"/>
                </a:lnTo>
                <a:lnTo>
                  <a:pt x="1278" y="802"/>
                </a:lnTo>
                <a:lnTo>
                  <a:pt x="1151" y="912"/>
                </a:lnTo>
                <a:lnTo>
                  <a:pt x="1028" y="1029"/>
                </a:lnTo>
                <a:lnTo>
                  <a:pt x="912" y="1151"/>
                </a:lnTo>
                <a:lnTo>
                  <a:pt x="801" y="1279"/>
                </a:lnTo>
                <a:lnTo>
                  <a:pt x="697" y="1411"/>
                </a:lnTo>
                <a:lnTo>
                  <a:pt x="600" y="1549"/>
                </a:lnTo>
                <a:lnTo>
                  <a:pt x="508" y="1691"/>
                </a:lnTo>
                <a:lnTo>
                  <a:pt x="423" y="1839"/>
                </a:lnTo>
                <a:lnTo>
                  <a:pt x="346" y="1990"/>
                </a:lnTo>
                <a:lnTo>
                  <a:pt x="276" y="2146"/>
                </a:lnTo>
                <a:lnTo>
                  <a:pt x="212" y="2305"/>
                </a:lnTo>
                <a:lnTo>
                  <a:pt x="157" y="2468"/>
                </a:lnTo>
                <a:lnTo>
                  <a:pt x="110" y="2635"/>
                </a:lnTo>
                <a:lnTo>
                  <a:pt x="71" y="2805"/>
                </a:lnTo>
                <a:lnTo>
                  <a:pt x="40" y="2978"/>
                </a:lnTo>
                <a:lnTo>
                  <a:pt x="18" y="3153"/>
                </a:lnTo>
                <a:lnTo>
                  <a:pt x="5" y="3332"/>
                </a:lnTo>
                <a:lnTo>
                  <a:pt x="0" y="3513"/>
                </a:lnTo>
                <a:lnTo>
                  <a:pt x="0" y="3526"/>
                </a:lnTo>
                <a:lnTo>
                  <a:pt x="1" y="3539"/>
                </a:lnTo>
                <a:lnTo>
                  <a:pt x="3" y="3551"/>
                </a:lnTo>
                <a:lnTo>
                  <a:pt x="5" y="3563"/>
                </a:lnTo>
                <a:lnTo>
                  <a:pt x="8" y="3576"/>
                </a:lnTo>
                <a:lnTo>
                  <a:pt x="11" y="3587"/>
                </a:lnTo>
                <a:lnTo>
                  <a:pt x="15" y="3599"/>
                </a:lnTo>
                <a:lnTo>
                  <a:pt x="20" y="3610"/>
                </a:lnTo>
                <a:lnTo>
                  <a:pt x="25" y="3621"/>
                </a:lnTo>
                <a:lnTo>
                  <a:pt x="30" y="3632"/>
                </a:lnTo>
                <a:lnTo>
                  <a:pt x="36" y="3643"/>
                </a:lnTo>
                <a:lnTo>
                  <a:pt x="43" y="3653"/>
                </a:lnTo>
                <a:lnTo>
                  <a:pt x="50" y="3663"/>
                </a:lnTo>
                <a:lnTo>
                  <a:pt x="57" y="3672"/>
                </a:lnTo>
                <a:lnTo>
                  <a:pt x="65" y="3681"/>
                </a:lnTo>
                <a:lnTo>
                  <a:pt x="73" y="3690"/>
                </a:lnTo>
                <a:lnTo>
                  <a:pt x="82" y="3698"/>
                </a:lnTo>
                <a:lnTo>
                  <a:pt x="91" y="3706"/>
                </a:lnTo>
                <a:lnTo>
                  <a:pt x="100" y="3713"/>
                </a:lnTo>
                <a:lnTo>
                  <a:pt x="110" y="3721"/>
                </a:lnTo>
                <a:lnTo>
                  <a:pt x="120" y="3728"/>
                </a:lnTo>
                <a:lnTo>
                  <a:pt x="131" y="3734"/>
                </a:lnTo>
                <a:lnTo>
                  <a:pt x="142" y="3739"/>
                </a:lnTo>
                <a:lnTo>
                  <a:pt x="153" y="3744"/>
                </a:lnTo>
                <a:lnTo>
                  <a:pt x="164" y="3749"/>
                </a:lnTo>
                <a:lnTo>
                  <a:pt x="176" y="3753"/>
                </a:lnTo>
                <a:lnTo>
                  <a:pt x="188" y="3756"/>
                </a:lnTo>
                <a:lnTo>
                  <a:pt x="200" y="3759"/>
                </a:lnTo>
                <a:lnTo>
                  <a:pt x="212" y="3761"/>
                </a:lnTo>
                <a:lnTo>
                  <a:pt x="224" y="3763"/>
                </a:lnTo>
                <a:lnTo>
                  <a:pt x="237" y="3764"/>
                </a:lnTo>
                <a:lnTo>
                  <a:pt x="250" y="3764"/>
                </a:lnTo>
                <a:lnTo>
                  <a:pt x="264" y="3764"/>
                </a:lnTo>
                <a:lnTo>
                  <a:pt x="276" y="3763"/>
                </a:lnTo>
                <a:lnTo>
                  <a:pt x="289" y="3761"/>
                </a:lnTo>
                <a:lnTo>
                  <a:pt x="301" y="3759"/>
                </a:lnTo>
                <a:lnTo>
                  <a:pt x="313" y="3756"/>
                </a:lnTo>
                <a:lnTo>
                  <a:pt x="325" y="3753"/>
                </a:lnTo>
                <a:lnTo>
                  <a:pt x="337" y="3749"/>
                </a:lnTo>
                <a:lnTo>
                  <a:pt x="348" y="3744"/>
                </a:lnTo>
                <a:lnTo>
                  <a:pt x="359" y="3739"/>
                </a:lnTo>
                <a:lnTo>
                  <a:pt x="370" y="3734"/>
                </a:lnTo>
                <a:lnTo>
                  <a:pt x="381" y="3728"/>
                </a:lnTo>
                <a:lnTo>
                  <a:pt x="391" y="3721"/>
                </a:lnTo>
                <a:lnTo>
                  <a:pt x="401" y="3713"/>
                </a:lnTo>
                <a:lnTo>
                  <a:pt x="410" y="3706"/>
                </a:lnTo>
                <a:lnTo>
                  <a:pt x="419" y="3698"/>
                </a:lnTo>
                <a:lnTo>
                  <a:pt x="428" y="3690"/>
                </a:lnTo>
                <a:lnTo>
                  <a:pt x="436" y="3681"/>
                </a:lnTo>
                <a:lnTo>
                  <a:pt x="444" y="3672"/>
                </a:lnTo>
                <a:lnTo>
                  <a:pt x="451" y="3663"/>
                </a:lnTo>
                <a:lnTo>
                  <a:pt x="458" y="3653"/>
                </a:lnTo>
                <a:lnTo>
                  <a:pt x="465" y="3643"/>
                </a:lnTo>
                <a:lnTo>
                  <a:pt x="471" y="3632"/>
                </a:lnTo>
                <a:lnTo>
                  <a:pt x="476" y="3621"/>
                </a:lnTo>
                <a:lnTo>
                  <a:pt x="481" y="3610"/>
                </a:lnTo>
                <a:lnTo>
                  <a:pt x="486" y="3599"/>
                </a:lnTo>
                <a:lnTo>
                  <a:pt x="490" y="3587"/>
                </a:lnTo>
                <a:lnTo>
                  <a:pt x="493" y="3576"/>
                </a:lnTo>
                <a:lnTo>
                  <a:pt x="496" y="3563"/>
                </a:lnTo>
                <a:lnTo>
                  <a:pt x="498" y="3551"/>
                </a:lnTo>
                <a:lnTo>
                  <a:pt x="500" y="3539"/>
                </a:lnTo>
                <a:lnTo>
                  <a:pt x="501" y="3526"/>
                </a:lnTo>
                <a:lnTo>
                  <a:pt x="501" y="3513"/>
                </a:lnTo>
                <a:lnTo>
                  <a:pt x="505" y="3358"/>
                </a:lnTo>
                <a:lnTo>
                  <a:pt x="517" y="3205"/>
                </a:lnTo>
                <a:lnTo>
                  <a:pt x="537" y="3054"/>
                </a:lnTo>
                <a:lnTo>
                  <a:pt x="563" y="2907"/>
                </a:lnTo>
                <a:lnTo>
                  <a:pt x="596" y="2760"/>
                </a:lnTo>
                <a:lnTo>
                  <a:pt x="637" y="2618"/>
                </a:lnTo>
                <a:lnTo>
                  <a:pt x="684" y="2478"/>
                </a:lnTo>
                <a:lnTo>
                  <a:pt x="738" y="2341"/>
                </a:lnTo>
                <a:lnTo>
                  <a:pt x="798" y="2208"/>
                </a:lnTo>
                <a:lnTo>
                  <a:pt x="865" y="2078"/>
                </a:lnTo>
                <a:lnTo>
                  <a:pt x="937" y="1952"/>
                </a:lnTo>
                <a:lnTo>
                  <a:pt x="1015" y="1830"/>
                </a:lnTo>
                <a:lnTo>
                  <a:pt x="1100" y="1711"/>
                </a:lnTo>
                <a:lnTo>
                  <a:pt x="1189" y="1598"/>
                </a:lnTo>
                <a:lnTo>
                  <a:pt x="1283" y="1488"/>
                </a:lnTo>
                <a:lnTo>
                  <a:pt x="1384" y="1384"/>
                </a:lnTo>
                <a:lnTo>
                  <a:pt x="1488" y="1285"/>
                </a:lnTo>
                <a:lnTo>
                  <a:pt x="1597" y="1189"/>
                </a:lnTo>
                <a:lnTo>
                  <a:pt x="1711" y="1100"/>
                </a:lnTo>
                <a:lnTo>
                  <a:pt x="1829" y="1017"/>
                </a:lnTo>
                <a:lnTo>
                  <a:pt x="1952" y="937"/>
                </a:lnTo>
                <a:lnTo>
                  <a:pt x="2077" y="865"/>
                </a:lnTo>
                <a:lnTo>
                  <a:pt x="2208" y="799"/>
                </a:lnTo>
                <a:lnTo>
                  <a:pt x="2340" y="739"/>
                </a:lnTo>
                <a:lnTo>
                  <a:pt x="2478" y="685"/>
                </a:lnTo>
                <a:lnTo>
                  <a:pt x="2617" y="637"/>
                </a:lnTo>
                <a:lnTo>
                  <a:pt x="2760" y="596"/>
                </a:lnTo>
                <a:lnTo>
                  <a:pt x="2906" y="563"/>
                </a:lnTo>
                <a:lnTo>
                  <a:pt x="3054" y="537"/>
                </a:lnTo>
                <a:lnTo>
                  <a:pt x="3204" y="517"/>
                </a:lnTo>
                <a:lnTo>
                  <a:pt x="3358" y="506"/>
                </a:lnTo>
                <a:lnTo>
                  <a:pt x="3512" y="502"/>
                </a:lnTo>
                <a:lnTo>
                  <a:pt x="3525" y="502"/>
                </a:lnTo>
                <a:lnTo>
                  <a:pt x="3538" y="501"/>
                </a:lnTo>
                <a:lnTo>
                  <a:pt x="3550" y="499"/>
                </a:lnTo>
                <a:lnTo>
                  <a:pt x="3562" y="497"/>
                </a:lnTo>
                <a:lnTo>
                  <a:pt x="3574" y="494"/>
                </a:lnTo>
                <a:lnTo>
                  <a:pt x="3587" y="491"/>
                </a:lnTo>
                <a:lnTo>
                  <a:pt x="3599" y="487"/>
                </a:lnTo>
                <a:lnTo>
                  <a:pt x="3610" y="482"/>
                </a:lnTo>
                <a:lnTo>
                  <a:pt x="3621" y="477"/>
                </a:lnTo>
                <a:lnTo>
                  <a:pt x="3632" y="472"/>
                </a:lnTo>
                <a:lnTo>
                  <a:pt x="3643" y="466"/>
                </a:lnTo>
                <a:lnTo>
                  <a:pt x="3653" y="459"/>
                </a:lnTo>
                <a:lnTo>
                  <a:pt x="3663" y="452"/>
                </a:lnTo>
                <a:lnTo>
                  <a:pt x="3672" y="445"/>
                </a:lnTo>
                <a:lnTo>
                  <a:pt x="3681" y="437"/>
                </a:lnTo>
                <a:lnTo>
                  <a:pt x="3690" y="429"/>
                </a:lnTo>
                <a:lnTo>
                  <a:pt x="3698" y="420"/>
                </a:lnTo>
                <a:lnTo>
                  <a:pt x="3706" y="411"/>
                </a:lnTo>
                <a:lnTo>
                  <a:pt x="3713" y="402"/>
                </a:lnTo>
                <a:lnTo>
                  <a:pt x="3720" y="391"/>
                </a:lnTo>
                <a:lnTo>
                  <a:pt x="3727" y="381"/>
                </a:lnTo>
                <a:lnTo>
                  <a:pt x="3733" y="370"/>
                </a:lnTo>
                <a:lnTo>
                  <a:pt x="3738" y="359"/>
                </a:lnTo>
                <a:lnTo>
                  <a:pt x="3743" y="348"/>
                </a:lnTo>
                <a:lnTo>
                  <a:pt x="3748" y="337"/>
                </a:lnTo>
                <a:lnTo>
                  <a:pt x="3752" y="325"/>
                </a:lnTo>
                <a:lnTo>
                  <a:pt x="3755" y="313"/>
                </a:lnTo>
                <a:lnTo>
                  <a:pt x="3758" y="301"/>
                </a:lnTo>
                <a:lnTo>
                  <a:pt x="3760" y="289"/>
                </a:lnTo>
                <a:lnTo>
                  <a:pt x="3762" y="276"/>
                </a:lnTo>
                <a:lnTo>
                  <a:pt x="3763" y="264"/>
                </a:lnTo>
                <a:lnTo>
                  <a:pt x="3763" y="251"/>
                </a:lnTo>
                <a:lnTo>
                  <a:pt x="3763" y="238"/>
                </a:lnTo>
                <a:lnTo>
                  <a:pt x="3762" y="225"/>
                </a:lnTo>
                <a:lnTo>
                  <a:pt x="3760" y="213"/>
                </a:lnTo>
                <a:lnTo>
                  <a:pt x="3758" y="201"/>
                </a:lnTo>
                <a:lnTo>
                  <a:pt x="3755" y="188"/>
                </a:lnTo>
                <a:lnTo>
                  <a:pt x="3752" y="177"/>
                </a:lnTo>
                <a:lnTo>
                  <a:pt x="3748" y="165"/>
                </a:lnTo>
                <a:lnTo>
                  <a:pt x="3743" y="154"/>
                </a:lnTo>
                <a:lnTo>
                  <a:pt x="3738" y="143"/>
                </a:lnTo>
                <a:lnTo>
                  <a:pt x="3733" y="132"/>
                </a:lnTo>
                <a:lnTo>
                  <a:pt x="3727" y="120"/>
                </a:lnTo>
                <a:lnTo>
                  <a:pt x="3720" y="110"/>
                </a:lnTo>
                <a:lnTo>
                  <a:pt x="3713" y="100"/>
                </a:lnTo>
                <a:lnTo>
                  <a:pt x="3706" y="91"/>
                </a:lnTo>
                <a:lnTo>
                  <a:pt x="3698" y="82"/>
                </a:lnTo>
                <a:lnTo>
                  <a:pt x="3690" y="73"/>
                </a:lnTo>
                <a:lnTo>
                  <a:pt x="3681" y="65"/>
                </a:lnTo>
                <a:lnTo>
                  <a:pt x="3672" y="57"/>
                </a:lnTo>
                <a:lnTo>
                  <a:pt x="3663" y="50"/>
                </a:lnTo>
                <a:lnTo>
                  <a:pt x="3653" y="43"/>
                </a:lnTo>
                <a:lnTo>
                  <a:pt x="3643" y="36"/>
                </a:lnTo>
                <a:lnTo>
                  <a:pt x="3632" y="30"/>
                </a:lnTo>
                <a:lnTo>
                  <a:pt x="3621" y="25"/>
                </a:lnTo>
                <a:lnTo>
                  <a:pt x="3610" y="20"/>
                </a:lnTo>
                <a:lnTo>
                  <a:pt x="3599" y="15"/>
                </a:lnTo>
                <a:lnTo>
                  <a:pt x="3587" y="11"/>
                </a:lnTo>
                <a:lnTo>
                  <a:pt x="3574" y="8"/>
                </a:lnTo>
                <a:lnTo>
                  <a:pt x="3562" y="5"/>
                </a:lnTo>
                <a:lnTo>
                  <a:pt x="3550" y="3"/>
                </a:lnTo>
                <a:lnTo>
                  <a:pt x="3538" y="1"/>
                </a:lnTo>
                <a:lnTo>
                  <a:pt x="3525" y="0"/>
                </a:lnTo>
                <a:lnTo>
                  <a:pt x="3512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" name="文本框 2"/>
          <p:cNvSpPr txBox="1"/>
          <p:nvPr/>
        </p:nvSpPr>
        <p:spPr>
          <a:xfrm>
            <a:off x="171698" y="1693809"/>
            <a:ext cx="27849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rgbClr val="FF0000"/>
                </a:solidFill>
                <a:ea typeface="思源宋体 CN Heavy" pitchFamily="18" charset="-122"/>
              </a:rPr>
              <a:t>现有隐私保护方案无法同时满足：向量隐私、检索精度、以及“秒级”实时响应</a:t>
            </a:r>
            <a:endParaRPr lang="zh-CN" altLang="en-US" sz="2400" b="1" kern="100" dirty="0">
              <a:solidFill>
                <a:srgbClr val="FF0000"/>
              </a:solidFill>
              <a:ea typeface="思源宋体 CN Heavy" pitchFamily="18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7" t="-255" r="2748" b="255"/>
          <a:stretch>
            <a:fillRect/>
          </a:stretch>
        </p:blipFill>
        <p:spPr>
          <a:xfrm>
            <a:off x="3000278" y="723621"/>
            <a:ext cx="5973655" cy="4063467"/>
          </a:xfrm>
          <a:prstGeom prst="roundRect">
            <a:avLst>
              <a:gd name="adj" fmla="val 4000"/>
            </a:avLst>
          </a:prstGeom>
          <a:effectLst>
            <a:outerShdw blurRad="190500" dist="63500" algn="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-2" y="-31304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背景与动机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椭圆 70"/>
          <p:cNvSpPr/>
          <p:nvPr>
            <p:custDataLst>
              <p:tags r:id="rId1"/>
            </p:custDataLst>
          </p:nvPr>
        </p:nvSpPr>
        <p:spPr>
          <a:xfrm>
            <a:off x="292659" y="1357814"/>
            <a:ext cx="3143847" cy="3143847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椭圆 71"/>
          <p:cNvSpPr/>
          <p:nvPr>
            <p:custDataLst>
              <p:tags r:id="rId2"/>
            </p:custDataLst>
          </p:nvPr>
        </p:nvSpPr>
        <p:spPr>
          <a:xfrm>
            <a:off x="3000076" y="1357814"/>
            <a:ext cx="3143847" cy="3143847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椭圆 72"/>
          <p:cNvSpPr/>
          <p:nvPr>
            <p:custDataLst>
              <p:tags r:id="rId3"/>
            </p:custDataLst>
          </p:nvPr>
        </p:nvSpPr>
        <p:spPr>
          <a:xfrm>
            <a:off x="5707494" y="1357814"/>
            <a:ext cx="3143847" cy="3143847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文本框 6"/>
          <p:cNvSpPr txBox="1"/>
          <p:nvPr>
            <p:custDataLst>
              <p:tags r:id="rId4"/>
            </p:custDataLst>
          </p:nvPr>
        </p:nvSpPr>
        <p:spPr bwMode="auto">
          <a:xfrm>
            <a:off x="1218972" y="1766963"/>
            <a:ext cx="1291289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隐私保护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6" name="文本框 6"/>
          <p:cNvSpPr txBox="1"/>
          <p:nvPr>
            <p:custDataLst>
              <p:tags r:id="rId5"/>
            </p:custDataLst>
          </p:nvPr>
        </p:nvSpPr>
        <p:spPr bwMode="auto">
          <a:xfrm>
            <a:off x="3926390" y="1766973"/>
            <a:ext cx="1291289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高效性与可扩展性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8" name="文本框 6"/>
          <p:cNvSpPr txBox="1"/>
          <p:nvPr>
            <p:custDataLst>
              <p:tags r:id="rId6"/>
            </p:custDataLst>
          </p:nvPr>
        </p:nvSpPr>
        <p:spPr bwMode="auto">
          <a:xfrm>
            <a:off x="6719880" y="1766973"/>
            <a:ext cx="1413467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800" dirty="0"/>
              <a:t>系统安全性与防护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328460690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2765" y="2347257"/>
            <a:ext cx="1903703" cy="1439200"/>
          </a:xfrm>
          <a:prstGeom prst="roundRect">
            <a:avLst>
              <a:gd name="adj" fmla="val 3000"/>
            </a:avLst>
          </a:prstGeom>
          <a:effectLst>
            <a:outerShdw blurRad="190500" dist="63500" dir="8100000" algn="tr" rotWithShape="0">
              <a:srgbClr val="000000">
                <a:alpha val="30000"/>
              </a:srgbClr>
            </a:outerShdw>
            <a:softEdge rad="88900"/>
          </a:effectLst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r="6555"/>
          <a:stretch>
            <a:fillRect/>
          </a:stretch>
        </p:blipFill>
        <p:spPr>
          <a:xfrm>
            <a:off x="6427360" y="2347238"/>
            <a:ext cx="1896565" cy="1455147"/>
          </a:xfrm>
          <a:prstGeom prst="roundRect">
            <a:avLst>
              <a:gd name="adj" fmla="val 5500"/>
            </a:avLst>
          </a:prstGeom>
          <a:effectLst>
            <a:outerShdw blurRad="190500" dist="63500" dir="5400000" algn="t" rotWithShape="0">
              <a:srgbClr val="000000">
                <a:alpha val="30000"/>
              </a:srgbClr>
            </a:outerShdw>
            <a:softEdge rad="101600"/>
          </a:effectLst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5" t="4104" r="1375" b="24266"/>
          <a:stretch>
            <a:fillRect/>
          </a:stretch>
        </p:blipFill>
        <p:spPr>
          <a:xfrm>
            <a:off x="3584185" y="2347238"/>
            <a:ext cx="2031505" cy="1455184"/>
          </a:xfrm>
          <a:prstGeom prst="roundRect">
            <a:avLst>
              <a:gd name="adj" fmla="val 5000"/>
            </a:avLst>
          </a:prstGeom>
          <a:effectLst>
            <a:outerShdw blurRad="190500" dist="63500" dir="5400000" algn="t" rotWithShape="0">
              <a:srgbClr val="000000">
                <a:alpha val="30000"/>
              </a:srgbClr>
            </a:outerShdw>
            <a:softEdge rad="76200"/>
          </a:effectLst>
        </p:spPr>
      </p:pic>
      <p:cxnSp>
        <p:nvCxnSpPr>
          <p:cNvPr id="10" name="直接连接符 9"/>
          <p:cNvCxnSpPr/>
          <p:nvPr/>
        </p:nvCxnSpPr>
        <p:spPr>
          <a:xfrm>
            <a:off x="1524562" y="296982"/>
            <a:ext cx="6101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 bwMode="auto">
          <a:xfrm>
            <a:off x="2134702" y="95405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100" dirty="0">
                <a:solidFill>
                  <a:schemeClr val="bg1"/>
                </a:solidFill>
                <a:ea typeface="思源宋体 CN Heavy" pitchFamily="18" charset="-122"/>
              </a:rPr>
              <a:t>密态向量检索的三大核心需求</a:t>
            </a:r>
            <a:endParaRPr lang="zh-CN" altLang="en-US" sz="2000" kern="100" dirty="0">
              <a:solidFill>
                <a:schemeClr val="bg1"/>
              </a:solidFill>
              <a:ea typeface="思源宋体 CN Heavy" pitchFamily="18" charset="-122"/>
              <a:sym typeface="汉仪旗黑-50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02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2615565" y="2613025"/>
            <a:ext cx="3860165" cy="76009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44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005968" y="3372917"/>
            <a:ext cx="513206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System Architecture and Innovation</a:t>
            </a:r>
            <a:endParaRPr kumimoji="0" lang="en-US" altLang="zh-CN" sz="1200" b="0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第二单元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圆角矩形 2"/>
          <p:cNvSpPr/>
          <p:nvPr userDrawn="1"/>
        </p:nvSpPr>
        <p:spPr>
          <a:xfrm>
            <a:off x="261684" y="649605"/>
            <a:ext cx="3913505" cy="4353560"/>
          </a:xfrm>
          <a:prstGeom prst="roundRect">
            <a:avLst/>
          </a:prstGeom>
          <a:solidFill>
            <a:schemeClr val="tx2">
              <a:lumMod val="90000"/>
              <a:alpha val="100000"/>
            </a:schemeClr>
          </a:solidFill>
          <a:ln w="12700" cap="flat" cmpd="sng" algn="ctr">
            <a:solidFill>
              <a:schemeClr val="tx2">
                <a:alpha val="100000"/>
              </a:schemeClr>
            </a:solidFill>
            <a:prstDash val="solid"/>
            <a:miter lim="800000"/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347217" y="962373"/>
            <a:ext cx="1742440" cy="4000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思源宋体 CN Heavy"/>
              </a:rPr>
              <a:t>系统</a:t>
            </a:r>
            <a:r>
              <a:rPr lang="zh-CN" altLang="en-US" sz="2400" b="1" dirty="0">
                <a:latin typeface="微软雅黑" panose="020B0503020204020204" pitchFamily="34" charset="-122"/>
                <a:ea typeface="思源宋体 CN Heavy"/>
                <a:cs typeface="Arial" panose="020B0604020202020204" pitchFamily="34" charset="0"/>
              </a:rPr>
              <a:t>架构</a:t>
            </a:r>
            <a:endParaRPr lang="zh-CN" altLang="en-US" sz="2400" b="1" dirty="0">
              <a:latin typeface="微软雅黑" panose="020B0503020204020204" pitchFamily="34" charset="-122"/>
              <a:ea typeface="思源宋体 CN Heavy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64185" y="1488902"/>
            <a:ext cx="3715385" cy="115189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“</a:t>
            </a:r>
            <a:r>
              <a:rPr lang="zh-CN" altLang="en-US" sz="2000" b="1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离线构建</a:t>
            </a:r>
            <a:r>
              <a:rPr lang="en-US" altLang="zh-CN" sz="2000" b="1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+ </a:t>
            </a:r>
            <a:r>
              <a:rPr lang="zh-CN" altLang="en-US" sz="2000" b="1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在线检索</a:t>
            </a: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” 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48602" y="2043019"/>
            <a:ext cx="3632835" cy="271018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四个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核心模块：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  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索引服务（</a:t>
            </a: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Index Server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  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客户端（</a:t>
            </a: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Client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）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  网关服务（</a:t>
            </a: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Gateway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）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同态计算服务（</a:t>
            </a:r>
            <a:r>
              <a:rPr lang="en-US" altLang="zh-CN" sz="2000" dirty="0" err="1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HeServer</a:t>
            </a:r>
            <a:r>
              <a:rPr lang="zh-CN" altLang="en-US" sz="18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）</a:t>
            </a:r>
            <a:endParaRPr lang="zh-CN" altLang="en-US" sz="18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1800" dirty="0"/>
              <a:t>   </a:t>
            </a:r>
            <a:endParaRPr lang="en-US" altLang="zh-CN" sz="18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0" r="2904" b="606"/>
          <a:stretch>
            <a:fillRect/>
          </a:stretch>
        </p:blipFill>
        <p:spPr>
          <a:xfrm>
            <a:off x="4179570" y="794385"/>
            <a:ext cx="4735830" cy="409829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767205" y="558800"/>
            <a:ext cx="457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离线模块</a:t>
            </a:r>
            <a:endParaRPr lang="zh-CN" altLang="en-US" sz="24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7345" y="1306195"/>
            <a:ext cx="3658870" cy="30276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28189" y="2118124"/>
            <a:ext cx="3661410" cy="227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高效向量索引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索引级最小泄露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支撑高性能密态检索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21" name="图片 20"/>
          <p:cNvPicPr/>
          <p:nvPr/>
        </p:nvPicPr>
        <p:blipFill>
          <a:blip r:embed="rId1"/>
          <a:stretch>
            <a:fillRect/>
          </a:stretch>
        </p:blipFill>
        <p:spPr>
          <a:xfrm>
            <a:off x="4836795" y="711200"/>
            <a:ext cx="3377565" cy="431038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767205" y="558800"/>
            <a:ext cx="457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客户端模块</a:t>
            </a:r>
            <a:endParaRPr lang="zh-CN" altLang="en-US" sz="24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7345" y="1306195"/>
            <a:ext cx="3658870" cy="30276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81322" y="2146801"/>
            <a:ext cx="3529330" cy="227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查询隐私保护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访问模式隐藏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端到端认证与完整性保证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最小泄露原则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7180" y="957580"/>
            <a:ext cx="4641215" cy="38258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652" y="1035600"/>
            <a:ext cx="1452881" cy="76728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922" y="4074160"/>
            <a:ext cx="1380755" cy="65207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  <a:p>
            <a:pPr algn="l"/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767205" y="55880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>
                <a:effectLst/>
                <a:cs typeface="Arial" panose="020B0604020202020204" pitchFamily="34" charset="0"/>
                <a:sym typeface="+mn-ea"/>
              </a:rPr>
              <a:t>网关服务模块</a:t>
            </a:r>
            <a:endParaRPr lang="zh-CN" altLang="en-US" sz="2000" b="1">
              <a:effectLst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7345" y="1306195"/>
            <a:ext cx="3658870" cy="30276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10181" y="2058670"/>
            <a:ext cx="3529330" cy="227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请求合法性验证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查询访问控制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隐私友好的调度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密态计算协调</a:t>
            </a:r>
            <a:endParaRPr lang="zh-CN" altLang="en-US" sz="2000" dirty="0">
              <a:ea typeface="思源宋体 CN Heavy"/>
            </a:endParaRPr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8" t="4714" r="2773" b="4321"/>
          <a:stretch>
            <a:fillRect/>
          </a:stretch>
        </p:blipFill>
        <p:spPr>
          <a:xfrm>
            <a:off x="4279472" y="957580"/>
            <a:ext cx="4296637" cy="388392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767205" y="558800"/>
            <a:ext cx="4572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同态计算服务模块</a:t>
            </a:r>
            <a:endParaRPr lang="zh-CN" altLang="en-US" sz="24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7345" y="1306195"/>
            <a:ext cx="3658870" cy="30276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88641" y="2058670"/>
            <a:ext cx="3529330" cy="227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密态余弦近似度计算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BSGS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旋转优化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SIMD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批处理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密态计算协同</a:t>
            </a:r>
            <a:endParaRPr lang="zh-CN" altLang="en-US" sz="2000" dirty="0">
              <a:ea typeface="思源宋体 CN Heavy"/>
            </a:endParaRPr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" t="-1029" r="2227" b="1029"/>
          <a:stretch>
            <a:fillRect/>
          </a:stretch>
        </p:blipFill>
        <p:spPr>
          <a:xfrm>
            <a:off x="4053205" y="1019263"/>
            <a:ext cx="4949439" cy="38272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090545" y="842865"/>
            <a:ext cx="696291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系统总体架构</a:t>
            </a:r>
            <a:r>
              <a:rPr lang="en-US" altLang="zh-CN" sz="24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——</a:t>
            </a:r>
            <a:r>
              <a:rPr lang="zh-CN" altLang="en-US" sz="2400" b="1" dirty="0">
                <a:ea typeface="思源宋体 CN Heavy"/>
              </a:rPr>
              <a:t>可落地的高效隐私向量检索</a:t>
            </a:r>
            <a:endParaRPr lang="zh-CN" altLang="en-US" sz="24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9655" y="2190282"/>
            <a:ext cx="3529330" cy="2275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2000" dirty="0">
                <a:solidFill>
                  <a:schemeClr val="bg1"/>
                </a:solidFill>
                <a:ea typeface="思源宋体 CN Heavy"/>
              </a:rPr>
              <a:t>前端负责多模态输入与展示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</a:t>
            </a:r>
            <a:r>
              <a:rPr lang="zh-CN" altLang="en-US" sz="2000" dirty="0">
                <a:solidFill>
                  <a:schemeClr val="bg1"/>
                </a:solidFill>
                <a:ea typeface="思源宋体 CN Heavy"/>
              </a:rPr>
              <a:t>网关负责向量化与任务调度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</a:t>
            </a:r>
            <a:r>
              <a:rPr lang="zh-CN" altLang="en-US" sz="2000" dirty="0">
                <a:solidFill>
                  <a:schemeClr val="bg1"/>
                </a:solidFill>
                <a:ea typeface="思源宋体 CN Heavy"/>
              </a:rPr>
              <a:t>后端承担索引检索与密态计算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t="-4579" r="-8247" b="-672"/>
          <a:stretch>
            <a:fillRect/>
          </a:stretch>
        </p:blipFill>
        <p:spPr>
          <a:xfrm>
            <a:off x="133866" y="1369296"/>
            <a:ext cx="9748390" cy="353890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2" name="直接连接符 1"/>
          <p:cNvCxnSpPr/>
          <p:nvPr/>
        </p:nvCxnSpPr>
        <p:spPr>
          <a:xfrm>
            <a:off x="1586746" y="296982"/>
            <a:ext cx="6101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 bwMode="auto">
          <a:xfrm>
            <a:off x="2176780" y="9392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系统落地与工程实现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58"/>
          <p:cNvSpPr txBox="1"/>
          <p:nvPr/>
        </p:nvSpPr>
        <p:spPr>
          <a:xfrm>
            <a:off x="407210" y="499903"/>
            <a:ext cx="800203" cy="250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lang="en-US" sz="1800" b="1" dirty="0">
              <a:solidFill>
                <a:srgbClr val="3333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5" name="TextBox 59"/>
          <p:cNvSpPr txBox="1"/>
          <p:nvPr/>
        </p:nvSpPr>
        <p:spPr>
          <a:xfrm>
            <a:off x="1898713" y="496125"/>
            <a:ext cx="800203" cy="250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lang="en-US" sz="1800" b="1" dirty="0">
              <a:solidFill>
                <a:srgbClr val="3333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3" name="Rectangle 2"/>
          <p:cNvSpPr/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8" name="Rectangle 4"/>
          <p:cNvSpPr/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201397" y="4072928"/>
            <a:ext cx="6817528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altLang="en-US" sz="2400" b="1" kern="100" dirty="0">
                <a:solidFill>
                  <a:srgbClr val="FF0000"/>
                </a:solidFill>
                <a:ea typeface="思源宋体 CN Heavy" pitchFamily="18" charset="-122"/>
              </a:rPr>
              <a:t>这三项创新共同构成一个可落地、可用、可扩展的密态向量检索系统</a:t>
            </a:r>
            <a:endParaRPr lang="zh-CN" altLang="en-US" sz="2400" b="1" kern="100" dirty="0">
              <a:solidFill>
                <a:srgbClr val="FF0000"/>
              </a:solidFill>
              <a:ea typeface="思源宋体 CN Heavy" pitchFamily="18" charset="-122"/>
            </a:endParaRPr>
          </a:p>
        </p:txBody>
      </p:sp>
      <p:sp>
        <p:nvSpPr>
          <p:cNvPr id="15" name="Freeform 8"/>
          <p:cNvSpPr/>
          <p:nvPr>
            <p:custDataLst>
              <p:tags r:id="rId1"/>
            </p:custDataLst>
          </p:nvPr>
        </p:nvSpPr>
        <p:spPr>
          <a:xfrm>
            <a:off x="947420" y="707390"/>
            <a:ext cx="5325110" cy="561340"/>
          </a:xfrm>
          <a:custGeom>
            <a:avLst/>
            <a:gdLst/>
            <a:ahLst/>
            <a:cxnLst/>
            <a:rect l="l" t="t" r="r" b="b"/>
            <a:pathLst>
              <a:path w="2582108" h="267928">
                <a:moveTo>
                  <a:pt x="0" y="0"/>
                </a:moveTo>
                <a:lnTo>
                  <a:pt x="2582108" y="0"/>
                </a:lnTo>
                <a:lnTo>
                  <a:pt x="2582108" y="267928"/>
                </a:lnTo>
                <a:lnTo>
                  <a:pt x="0" y="267928"/>
                </a:lnTo>
                <a:close/>
              </a:path>
            </a:pathLst>
          </a:custGeom>
          <a:solidFill>
            <a:srgbClr val="C1C7D0"/>
          </a:solidFill>
        </p:spPr>
      </p:sp>
      <p:sp>
        <p:nvSpPr>
          <p:cNvPr id="16" name="TextBox 9"/>
          <p:cNvSpPr txBox="1"/>
          <p:nvPr/>
        </p:nvSpPr>
        <p:spPr>
          <a:xfrm>
            <a:off x="947420" y="692785"/>
            <a:ext cx="7555230" cy="57721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rtlCol="0" anchor="ctr"/>
          <a:lstStyle/>
          <a:p>
            <a:pPr algn="ctr">
              <a:lnSpc>
                <a:spcPts val="2520"/>
              </a:lnSpc>
            </a:pPr>
          </a:p>
        </p:txBody>
      </p:sp>
      <p:sp>
        <p:nvSpPr>
          <p:cNvPr id="114" name="矩形: 圆角 22"/>
          <p:cNvSpPr/>
          <p:nvPr>
            <p:custDataLst>
              <p:tags r:id="rId2"/>
            </p:custDataLst>
          </p:nvPr>
        </p:nvSpPr>
        <p:spPr>
          <a:xfrm>
            <a:off x="5802729" y="1325455"/>
            <a:ext cx="2261870" cy="2846070"/>
          </a:xfrm>
          <a:custGeom>
            <a:avLst/>
            <a:gdLst>
              <a:gd name="connsiteX0" fmla="*/ 0 w 3487810"/>
              <a:gd name="connsiteY0" fmla="*/ 0 h 4621846"/>
              <a:gd name="connsiteX1" fmla="*/ 0 w 3487810"/>
              <a:gd name="connsiteY1" fmla="*/ 0 h 4621846"/>
              <a:gd name="connsiteX2" fmla="*/ 3487810 w 3487810"/>
              <a:gd name="connsiteY2" fmla="*/ 0 h 4621846"/>
              <a:gd name="connsiteX3" fmla="*/ 3487810 w 3487810"/>
              <a:gd name="connsiteY3" fmla="*/ 0 h 4621846"/>
              <a:gd name="connsiteX4" fmla="*/ 3487810 w 3487810"/>
              <a:gd name="connsiteY4" fmla="*/ 4621846 h 4621846"/>
              <a:gd name="connsiteX5" fmla="*/ 3487810 w 3487810"/>
              <a:gd name="connsiteY5" fmla="*/ 4621846 h 4621846"/>
              <a:gd name="connsiteX6" fmla="*/ 0 w 3487810"/>
              <a:gd name="connsiteY6" fmla="*/ 4621846 h 4621846"/>
              <a:gd name="connsiteX7" fmla="*/ 0 w 3487810"/>
              <a:gd name="connsiteY7" fmla="*/ 4621846 h 4621846"/>
              <a:gd name="connsiteX8" fmla="*/ 0 w 3487810"/>
              <a:gd name="connsiteY8" fmla="*/ 0 h 4621846"/>
              <a:gd name="connsiteX0-1" fmla="*/ 695325 w 4183135"/>
              <a:gd name="connsiteY0-2" fmla="*/ 1615442 h 6237288"/>
              <a:gd name="connsiteX1-3" fmla="*/ 0 w 4183135"/>
              <a:gd name="connsiteY1-4" fmla="*/ 0 h 6237288"/>
              <a:gd name="connsiteX2-5" fmla="*/ 695325 w 4183135"/>
              <a:gd name="connsiteY2-6" fmla="*/ 1615442 h 6237288"/>
              <a:gd name="connsiteX3-7" fmla="*/ 4183135 w 4183135"/>
              <a:gd name="connsiteY3-8" fmla="*/ 1615442 h 6237288"/>
              <a:gd name="connsiteX4-9" fmla="*/ 4183135 w 4183135"/>
              <a:gd name="connsiteY4-10" fmla="*/ 1615442 h 6237288"/>
              <a:gd name="connsiteX5-11" fmla="*/ 4183135 w 4183135"/>
              <a:gd name="connsiteY5-12" fmla="*/ 6237288 h 6237288"/>
              <a:gd name="connsiteX6-13" fmla="*/ 4183135 w 4183135"/>
              <a:gd name="connsiteY6-14" fmla="*/ 6237288 h 6237288"/>
              <a:gd name="connsiteX7-15" fmla="*/ 695325 w 4183135"/>
              <a:gd name="connsiteY7-16" fmla="*/ 6237288 h 6237288"/>
              <a:gd name="connsiteX8-17" fmla="*/ 695325 w 4183135"/>
              <a:gd name="connsiteY8-18" fmla="*/ 6237288 h 6237288"/>
              <a:gd name="connsiteX9" fmla="*/ 695325 w 4183135"/>
              <a:gd name="connsiteY9" fmla="*/ 1615442 h 6237288"/>
              <a:gd name="connsiteX0-19" fmla="*/ 0 w 3487810"/>
              <a:gd name="connsiteY0-20" fmla="*/ 0 h 4621846"/>
              <a:gd name="connsiteX1-21" fmla="*/ 0 w 3487810"/>
              <a:gd name="connsiteY1-22" fmla="*/ 0 h 4621846"/>
              <a:gd name="connsiteX2-23" fmla="*/ 3487810 w 3487810"/>
              <a:gd name="connsiteY2-24" fmla="*/ 0 h 4621846"/>
              <a:gd name="connsiteX3-25" fmla="*/ 3487810 w 3487810"/>
              <a:gd name="connsiteY3-26" fmla="*/ 0 h 4621846"/>
              <a:gd name="connsiteX4-27" fmla="*/ 3487810 w 3487810"/>
              <a:gd name="connsiteY4-28" fmla="*/ 4621846 h 4621846"/>
              <a:gd name="connsiteX5-29" fmla="*/ 3487810 w 3487810"/>
              <a:gd name="connsiteY5-30" fmla="*/ 4621846 h 4621846"/>
              <a:gd name="connsiteX6-31" fmla="*/ 0 w 3487810"/>
              <a:gd name="connsiteY6-32" fmla="*/ 4621846 h 4621846"/>
              <a:gd name="connsiteX7-33" fmla="*/ 0 w 3487810"/>
              <a:gd name="connsiteY7-34" fmla="*/ 4621846 h 4621846"/>
              <a:gd name="connsiteX8-35" fmla="*/ 0 w 3487810"/>
              <a:gd name="connsiteY8-36" fmla="*/ 0 h 46218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87810" h="4621846">
                <a:moveTo>
                  <a:pt x="0" y="0"/>
                </a:moveTo>
                <a:lnTo>
                  <a:pt x="0" y="0"/>
                </a:lnTo>
                <a:lnTo>
                  <a:pt x="3487810" y="0"/>
                </a:lnTo>
                <a:lnTo>
                  <a:pt x="3487810" y="0"/>
                </a:lnTo>
                <a:lnTo>
                  <a:pt x="3487810" y="4621846"/>
                </a:lnTo>
                <a:lnTo>
                  <a:pt x="3487810" y="4621846"/>
                </a:lnTo>
                <a:lnTo>
                  <a:pt x="0" y="4621846"/>
                </a:lnTo>
                <a:lnTo>
                  <a:pt x="0" y="4621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3" name="Group 16"/>
          <p:cNvGrpSpPr/>
          <p:nvPr>
            <p:custDataLst>
              <p:tags r:id="rId3"/>
            </p:custDataLst>
          </p:nvPr>
        </p:nvGrpSpPr>
        <p:grpSpPr>
          <a:xfrm>
            <a:off x="937260" y="723265"/>
            <a:ext cx="2259965" cy="566420"/>
            <a:chOff x="0" y="0"/>
            <a:chExt cx="627160" cy="267928"/>
          </a:xfrm>
        </p:grpSpPr>
        <p:sp>
          <p:nvSpPr>
            <p:cNvPr id="54" name="Freeform 17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627161" cy="267928"/>
            </a:xfrm>
            <a:custGeom>
              <a:avLst/>
              <a:gdLst/>
              <a:ahLst/>
              <a:cxnLst/>
              <a:rect l="l" t="t" r="r" b="b"/>
              <a:pathLst>
                <a:path w="627161" h="267928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id="55" name="TextBox 18"/>
            <p:cNvSpPr txBox="1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id="107" name="组合 106"/>
          <p:cNvGrpSpPr/>
          <p:nvPr>
            <p:custDataLst>
              <p:tags r:id="rId5"/>
            </p:custDataLst>
          </p:nvPr>
        </p:nvGrpSpPr>
        <p:grpSpPr>
          <a:xfrm>
            <a:off x="1002374" y="585470"/>
            <a:ext cx="7858416" cy="755015"/>
            <a:chOff x="70500" y="1002696"/>
            <a:chExt cx="7177556" cy="747944"/>
          </a:xfrm>
        </p:grpSpPr>
        <p:grpSp>
          <p:nvGrpSpPr>
            <p:cNvPr id="56" name="Group 19"/>
            <p:cNvGrpSpPr/>
            <p:nvPr/>
          </p:nvGrpSpPr>
          <p:grpSpPr>
            <a:xfrm>
              <a:off x="2193503" y="1049765"/>
              <a:ext cx="2186469" cy="629387"/>
              <a:chOff x="-8033" y="-28575"/>
              <a:chExt cx="635193" cy="300411"/>
            </a:xfrm>
          </p:grpSpPr>
          <p:sp>
            <p:nvSpPr>
              <p:cNvPr id="57" name="Freeform 20"/>
              <p:cNvSpPr/>
              <p:nvPr>
                <p:custDataLst>
                  <p:tags r:id="rId6"/>
                </p:custDataLst>
              </p:nvPr>
            </p:nvSpPr>
            <p:spPr>
              <a:xfrm>
                <a:off x="-8033" y="3908"/>
                <a:ext cx="627161" cy="267928"/>
              </a:xfrm>
              <a:custGeom>
                <a:avLst/>
                <a:gdLst/>
                <a:ahLst/>
                <a:cxnLst/>
                <a:rect l="l" t="t" r="r" b="b"/>
                <a:pathLst>
                  <a:path w="627161" h="267928">
                    <a:moveTo>
                      <a:pt x="133964" y="0"/>
                    </a:moveTo>
                    <a:lnTo>
                      <a:pt x="493197" y="0"/>
                    </a:lnTo>
                    <a:cubicBezTo>
                      <a:pt x="567183" y="0"/>
                      <a:pt x="627161" y="59978"/>
                      <a:pt x="627161" y="133964"/>
                    </a:cubicBezTo>
                    <a:lnTo>
                      <a:pt x="627161" y="133964"/>
                    </a:lnTo>
                    <a:cubicBezTo>
                      <a:pt x="627161" y="207950"/>
                      <a:pt x="567183" y="267928"/>
                      <a:pt x="493197" y="267928"/>
                    </a:cubicBezTo>
                    <a:lnTo>
                      <a:pt x="133964" y="267928"/>
                    </a:lnTo>
                    <a:cubicBezTo>
                      <a:pt x="59978" y="267928"/>
                      <a:pt x="0" y="207950"/>
                      <a:pt x="0" y="133964"/>
                    </a:cubicBezTo>
                    <a:lnTo>
                      <a:pt x="0" y="133964"/>
                    </a:lnTo>
                    <a:cubicBezTo>
                      <a:pt x="0" y="59978"/>
                      <a:pt x="59978" y="0"/>
                      <a:pt x="133964" y="0"/>
                    </a:cubicBezTo>
                    <a:close/>
                  </a:path>
                </a:pathLst>
              </a:custGeom>
              <a:solidFill>
                <a:srgbClr val="0097A0"/>
              </a:solidFill>
            </p:spPr>
          </p:sp>
          <p:sp>
            <p:nvSpPr>
              <p:cNvPr id="58" name="TextBox 21"/>
              <p:cNvSpPr txBox="1"/>
              <p:nvPr/>
            </p:nvSpPr>
            <p:spPr>
              <a:xfrm>
                <a:off x="0" y="-28575"/>
                <a:ext cx="627160" cy="2965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endParaRPr>
              </a:p>
            </p:txBody>
          </p:sp>
        </p:grpSp>
        <p:grpSp>
          <p:nvGrpSpPr>
            <p:cNvPr id="59" name="Group 22"/>
            <p:cNvGrpSpPr/>
            <p:nvPr/>
          </p:nvGrpSpPr>
          <p:grpSpPr>
            <a:xfrm>
              <a:off x="4389251" y="1036957"/>
              <a:ext cx="2354878" cy="636535"/>
              <a:chOff x="-10744" y="-28575"/>
              <a:chExt cx="637904" cy="303823"/>
            </a:xfrm>
          </p:grpSpPr>
          <p:sp>
            <p:nvSpPr>
              <p:cNvPr id="60" name="Freeform 23"/>
              <p:cNvSpPr/>
              <p:nvPr>
                <p:custDataLst>
                  <p:tags r:id="rId7"/>
                </p:custDataLst>
              </p:nvPr>
            </p:nvSpPr>
            <p:spPr>
              <a:xfrm>
                <a:off x="-10744" y="7320"/>
                <a:ext cx="627161" cy="267928"/>
              </a:xfrm>
              <a:custGeom>
                <a:avLst/>
                <a:gdLst/>
                <a:ahLst/>
                <a:cxnLst/>
                <a:rect l="l" t="t" r="r" b="b"/>
                <a:pathLst>
                  <a:path w="627161" h="267928">
                    <a:moveTo>
                      <a:pt x="133964" y="0"/>
                    </a:moveTo>
                    <a:lnTo>
                      <a:pt x="493197" y="0"/>
                    </a:lnTo>
                    <a:cubicBezTo>
                      <a:pt x="567183" y="0"/>
                      <a:pt x="627161" y="59978"/>
                      <a:pt x="627161" y="133964"/>
                    </a:cubicBezTo>
                    <a:lnTo>
                      <a:pt x="627161" y="133964"/>
                    </a:lnTo>
                    <a:cubicBezTo>
                      <a:pt x="627161" y="207950"/>
                      <a:pt x="567183" y="267928"/>
                      <a:pt x="493197" y="267928"/>
                    </a:cubicBezTo>
                    <a:lnTo>
                      <a:pt x="133964" y="267928"/>
                    </a:lnTo>
                    <a:cubicBezTo>
                      <a:pt x="59978" y="267928"/>
                      <a:pt x="0" y="207950"/>
                      <a:pt x="0" y="133964"/>
                    </a:cubicBezTo>
                    <a:lnTo>
                      <a:pt x="0" y="133964"/>
                    </a:lnTo>
                    <a:cubicBezTo>
                      <a:pt x="0" y="59978"/>
                      <a:pt x="59978" y="0"/>
                      <a:pt x="133964" y="0"/>
                    </a:cubicBezTo>
                    <a:close/>
                  </a:path>
                </a:pathLst>
              </a:custGeom>
              <a:solidFill>
                <a:srgbClr val="0071B6"/>
              </a:solidFill>
            </p:spPr>
          </p:sp>
          <p:sp>
            <p:nvSpPr>
              <p:cNvPr id="61" name="TextBox 24"/>
              <p:cNvSpPr txBox="1"/>
              <p:nvPr/>
            </p:nvSpPr>
            <p:spPr>
              <a:xfrm>
                <a:off x="0" y="-28575"/>
                <a:ext cx="627160" cy="29650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id="66" name="Freeform 29"/>
            <p:cNvSpPr/>
            <p:nvPr/>
          </p:nvSpPr>
          <p:spPr>
            <a:xfrm rot="16200000">
              <a:off x="6710953" y="1213537"/>
              <a:ext cx="747944" cy="326261"/>
            </a:xfrm>
            <a:custGeom>
              <a:avLst/>
              <a:gdLst/>
              <a:ahLst/>
              <a:cxnLst/>
              <a:rect l="l" t="t" r="r" b="b"/>
              <a:pathLst>
                <a:path w="600197" h="226144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Box 48"/>
            <p:cNvSpPr txBox="1"/>
            <p:nvPr>
              <p:custDataLst>
                <p:tags r:id="rId8"/>
              </p:custDataLst>
            </p:nvPr>
          </p:nvSpPr>
          <p:spPr>
            <a:xfrm>
              <a:off x="70500" y="1272560"/>
              <a:ext cx="2016601" cy="2742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60"/>
                </a:lnSpc>
              </a:pPr>
              <a:r>
                <a:rPr lang="zh-CN" altLang="en-US" sz="2000" b="1" kern="100" dirty="0">
                  <a:solidFill>
                    <a:schemeClr val="bg1"/>
                  </a:solidFill>
                  <a:ea typeface="思源宋体 CN Heavy" pitchFamily="18" charset="-122"/>
                </a:rPr>
                <a:t>分层混合检索架构</a:t>
              </a:r>
              <a:endParaRPr lang="zh-CN" altLang="en-US" sz="2000" b="1" kern="100" dirty="0">
                <a:solidFill>
                  <a:schemeClr val="bg1"/>
                </a:solidFill>
                <a:ea typeface="思源宋体 CN Heavy" pitchFamily="18" charset="-122"/>
                <a:sym typeface="Open Sans Bold"/>
              </a:endParaRPr>
            </a:p>
          </p:txBody>
        </p:sp>
        <p:sp>
          <p:nvSpPr>
            <p:cNvPr id="87" name="TextBox 51"/>
            <p:cNvSpPr txBox="1"/>
            <p:nvPr>
              <p:custDataLst>
                <p:tags r:id="rId9"/>
              </p:custDataLst>
            </p:nvPr>
          </p:nvSpPr>
          <p:spPr>
            <a:xfrm>
              <a:off x="2114004" y="1244825"/>
              <a:ext cx="2380597" cy="2794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zh-CN" altLang="en-US" sz="2000" b="1" kern="100" dirty="0">
                  <a:solidFill>
                    <a:schemeClr val="bg1"/>
                  </a:solidFill>
                  <a:ea typeface="思源宋体 CN Heavy" pitchFamily="18" charset="-122"/>
                </a:rPr>
                <a:t>工程化同态加速</a:t>
              </a:r>
              <a:endParaRPr lang="zh-CN" altLang="en-US" sz="2000" b="1" kern="100" dirty="0">
                <a:solidFill>
                  <a:schemeClr val="bg1"/>
                </a:solidFill>
                <a:ea typeface="思源宋体 CN Heavy" pitchFamily="18" charset="-122"/>
                <a:sym typeface="Open Sans Bold"/>
              </a:endParaRPr>
            </a:p>
          </p:txBody>
        </p:sp>
        <p:sp>
          <p:nvSpPr>
            <p:cNvPr id="88" name="TextBox 52"/>
            <p:cNvSpPr txBox="1"/>
            <p:nvPr>
              <p:custDataLst>
                <p:tags r:id="rId10"/>
              </p:custDataLst>
            </p:nvPr>
          </p:nvSpPr>
          <p:spPr>
            <a:xfrm>
              <a:off x="4148888" y="1278570"/>
              <a:ext cx="2845930" cy="2742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zh-CN" altLang="en-US" sz="2000" b="1" kern="100" dirty="0">
                  <a:solidFill>
                    <a:schemeClr val="bg1"/>
                  </a:solidFill>
                  <a:ea typeface="思源宋体 CN Heavy" pitchFamily="18" charset="-122"/>
                </a:rPr>
                <a:t>多层次隐私保护体系</a:t>
              </a:r>
              <a:endParaRPr lang="zh-CN" altLang="en-US" sz="2000" b="1" kern="100" dirty="0">
                <a:solidFill>
                  <a:schemeClr val="bg1"/>
                </a:solidFill>
                <a:ea typeface="思源宋体 CN Heavy" pitchFamily="18" charset="-122"/>
                <a:sym typeface="Open Sans Bold"/>
              </a:endParaRPr>
            </a:p>
          </p:txBody>
        </p:sp>
      </p:grpSp>
      <p:sp>
        <p:nvSpPr>
          <p:cNvPr id="108" name="矩形: 圆角 22"/>
          <p:cNvSpPr/>
          <p:nvPr>
            <p:custDataLst>
              <p:tags r:id="rId11"/>
            </p:custDataLst>
          </p:nvPr>
        </p:nvSpPr>
        <p:spPr>
          <a:xfrm>
            <a:off x="953135" y="1330960"/>
            <a:ext cx="2373630" cy="2846070"/>
          </a:xfrm>
          <a:custGeom>
            <a:avLst/>
            <a:gdLst>
              <a:gd name="connsiteX0" fmla="*/ 0 w 3487810"/>
              <a:gd name="connsiteY0" fmla="*/ 0 h 4621846"/>
              <a:gd name="connsiteX1" fmla="*/ 0 w 3487810"/>
              <a:gd name="connsiteY1" fmla="*/ 0 h 4621846"/>
              <a:gd name="connsiteX2" fmla="*/ 3487810 w 3487810"/>
              <a:gd name="connsiteY2" fmla="*/ 0 h 4621846"/>
              <a:gd name="connsiteX3" fmla="*/ 3487810 w 3487810"/>
              <a:gd name="connsiteY3" fmla="*/ 0 h 4621846"/>
              <a:gd name="connsiteX4" fmla="*/ 3487810 w 3487810"/>
              <a:gd name="connsiteY4" fmla="*/ 4621846 h 4621846"/>
              <a:gd name="connsiteX5" fmla="*/ 3487810 w 3487810"/>
              <a:gd name="connsiteY5" fmla="*/ 4621846 h 4621846"/>
              <a:gd name="connsiteX6" fmla="*/ 0 w 3487810"/>
              <a:gd name="connsiteY6" fmla="*/ 4621846 h 4621846"/>
              <a:gd name="connsiteX7" fmla="*/ 0 w 3487810"/>
              <a:gd name="connsiteY7" fmla="*/ 4621846 h 4621846"/>
              <a:gd name="connsiteX8" fmla="*/ 0 w 3487810"/>
              <a:gd name="connsiteY8" fmla="*/ 0 h 4621846"/>
              <a:gd name="connsiteX0-1" fmla="*/ 695325 w 4183135"/>
              <a:gd name="connsiteY0-2" fmla="*/ 1615442 h 6237288"/>
              <a:gd name="connsiteX1-3" fmla="*/ 0 w 4183135"/>
              <a:gd name="connsiteY1-4" fmla="*/ 0 h 6237288"/>
              <a:gd name="connsiteX2-5" fmla="*/ 695325 w 4183135"/>
              <a:gd name="connsiteY2-6" fmla="*/ 1615442 h 6237288"/>
              <a:gd name="connsiteX3-7" fmla="*/ 4183135 w 4183135"/>
              <a:gd name="connsiteY3-8" fmla="*/ 1615442 h 6237288"/>
              <a:gd name="connsiteX4-9" fmla="*/ 4183135 w 4183135"/>
              <a:gd name="connsiteY4-10" fmla="*/ 1615442 h 6237288"/>
              <a:gd name="connsiteX5-11" fmla="*/ 4183135 w 4183135"/>
              <a:gd name="connsiteY5-12" fmla="*/ 6237288 h 6237288"/>
              <a:gd name="connsiteX6-13" fmla="*/ 4183135 w 4183135"/>
              <a:gd name="connsiteY6-14" fmla="*/ 6237288 h 6237288"/>
              <a:gd name="connsiteX7-15" fmla="*/ 695325 w 4183135"/>
              <a:gd name="connsiteY7-16" fmla="*/ 6237288 h 6237288"/>
              <a:gd name="connsiteX8-17" fmla="*/ 695325 w 4183135"/>
              <a:gd name="connsiteY8-18" fmla="*/ 6237288 h 6237288"/>
              <a:gd name="connsiteX9" fmla="*/ 695325 w 4183135"/>
              <a:gd name="connsiteY9" fmla="*/ 1615442 h 6237288"/>
              <a:gd name="connsiteX0-19" fmla="*/ 0 w 3487810"/>
              <a:gd name="connsiteY0-20" fmla="*/ 0 h 4621846"/>
              <a:gd name="connsiteX1-21" fmla="*/ 0 w 3487810"/>
              <a:gd name="connsiteY1-22" fmla="*/ 0 h 4621846"/>
              <a:gd name="connsiteX2-23" fmla="*/ 3487810 w 3487810"/>
              <a:gd name="connsiteY2-24" fmla="*/ 0 h 4621846"/>
              <a:gd name="connsiteX3-25" fmla="*/ 3487810 w 3487810"/>
              <a:gd name="connsiteY3-26" fmla="*/ 0 h 4621846"/>
              <a:gd name="connsiteX4-27" fmla="*/ 3487810 w 3487810"/>
              <a:gd name="connsiteY4-28" fmla="*/ 4621846 h 4621846"/>
              <a:gd name="connsiteX5-29" fmla="*/ 3487810 w 3487810"/>
              <a:gd name="connsiteY5-30" fmla="*/ 4621846 h 4621846"/>
              <a:gd name="connsiteX6-31" fmla="*/ 0 w 3487810"/>
              <a:gd name="connsiteY6-32" fmla="*/ 4621846 h 4621846"/>
              <a:gd name="connsiteX7-33" fmla="*/ 0 w 3487810"/>
              <a:gd name="connsiteY7-34" fmla="*/ 4621846 h 4621846"/>
              <a:gd name="connsiteX8-35" fmla="*/ 0 w 3487810"/>
              <a:gd name="connsiteY8-36" fmla="*/ 0 h 46218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87810" h="4621846">
                <a:moveTo>
                  <a:pt x="0" y="0"/>
                </a:moveTo>
                <a:lnTo>
                  <a:pt x="0" y="0"/>
                </a:lnTo>
                <a:lnTo>
                  <a:pt x="3487810" y="0"/>
                </a:lnTo>
                <a:lnTo>
                  <a:pt x="3487810" y="0"/>
                </a:lnTo>
                <a:lnTo>
                  <a:pt x="3487810" y="4621846"/>
                </a:lnTo>
                <a:lnTo>
                  <a:pt x="3487810" y="4621846"/>
                </a:lnTo>
                <a:lnTo>
                  <a:pt x="0" y="4621846"/>
                </a:lnTo>
                <a:lnTo>
                  <a:pt x="0" y="4621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0" name="Rectangle 1"/>
          <p:cNvSpPr/>
          <p:nvPr>
            <p:custDataLst>
              <p:tags r:id="rId12"/>
            </p:custDataLst>
          </p:nvPr>
        </p:nvSpPr>
        <p:spPr bwMode="auto">
          <a:xfrm>
            <a:off x="1002374" y="2108887"/>
            <a:ext cx="229806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明文侧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IVF + PQ 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粗筛</a:t>
            </a:r>
            <a:endParaRPr lang="zh-CN" altLang="zh-CN" sz="1800" b="1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密态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CKKS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精排</a:t>
            </a:r>
            <a:endParaRPr lang="zh-CN" altLang="en-US" sz="1800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查询向量全程不可见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秒级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性能</a:t>
            </a:r>
            <a:endParaRPr lang="zh-CN" altLang="en-US" sz="1800" dirty="0">
              <a:latin typeface="Arial" panose="020B0604020202020204" pitchFamily="34" charset="0"/>
              <a:ea typeface="思源宋体 CN Heavy"/>
            </a:endParaRPr>
          </a:p>
        </p:txBody>
      </p:sp>
      <p:sp>
        <p:nvSpPr>
          <p:cNvPr id="111" name="矩形: 圆角 22"/>
          <p:cNvSpPr/>
          <p:nvPr>
            <p:custDataLst>
              <p:tags r:id="rId13"/>
            </p:custDataLst>
          </p:nvPr>
        </p:nvSpPr>
        <p:spPr>
          <a:xfrm>
            <a:off x="3455670" y="1330960"/>
            <a:ext cx="2228215" cy="2849245"/>
          </a:xfrm>
          <a:custGeom>
            <a:avLst/>
            <a:gdLst>
              <a:gd name="connsiteX0" fmla="*/ 0 w 3487810"/>
              <a:gd name="connsiteY0" fmla="*/ 0 h 4621846"/>
              <a:gd name="connsiteX1" fmla="*/ 0 w 3487810"/>
              <a:gd name="connsiteY1" fmla="*/ 0 h 4621846"/>
              <a:gd name="connsiteX2" fmla="*/ 3487810 w 3487810"/>
              <a:gd name="connsiteY2" fmla="*/ 0 h 4621846"/>
              <a:gd name="connsiteX3" fmla="*/ 3487810 w 3487810"/>
              <a:gd name="connsiteY3" fmla="*/ 0 h 4621846"/>
              <a:gd name="connsiteX4" fmla="*/ 3487810 w 3487810"/>
              <a:gd name="connsiteY4" fmla="*/ 4621846 h 4621846"/>
              <a:gd name="connsiteX5" fmla="*/ 3487810 w 3487810"/>
              <a:gd name="connsiteY5" fmla="*/ 4621846 h 4621846"/>
              <a:gd name="connsiteX6" fmla="*/ 0 w 3487810"/>
              <a:gd name="connsiteY6" fmla="*/ 4621846 h 4621846"/>
              <a:gd name="connsiteX7" fmla="*/ 0 w 3487810"/>
              <a:gd name="connsiteY7" fmla="*/ 4621846 h 4621846"/>
              <a:gd name="connsiteX8" fmla="*/ 0 w 3487810"/>
              <a:gd name="connsiteY8" fmla="*/ 0 h 4621846"/>
              <a:gd name="connsiteX0-1" fmla="*/ 695325 w 4183135"/>
              <a:gd name="connsiteY0-2" fmla="*/ 1615442 h 6237288"/>
              <a:gd name="connsiteX1-3" fmla="*/ 0 w 4183135"/>
              <a:gd name="connsiteY1-4" fmla="*/ 0 h 6237288"/>
              <a:gd name="connsiteX2-5" fmla="*/ 695325 w 4183135"/>
              <a:gd name="connsiteY2-6" fmla="*/ 1615442 h 6237288"/>
              <a:gd name="connsiteX3-7" fmla="*/ 4183135 w 4183135"/>
              <a:gd name="connsiteY3-8" fmla="*/ 1615442 h 6237288"/>
              <a:gd name="connsiteX4-9" fmla="*/ 4183135 w 4183135"/>
              <a:gd name="connsiteY4-10" fmla="*/ 1615442 h 6237288"/>
              <a:gd name="connsiteX5-11" fmla="*/ 4183135 w 4183135"/>
              <a:gd name="connsiteY5-12" fmla="*/ 6237288 h 6237288"/>
              <a:gd name="connsiteX6-13" fmla="*/ 4183135 w 4183135"/>
              <a:gd name="connsiteY6-14" fmla="*/ 6237288 h 6237288"/>
              <a:gd name="connsiteX7-15" fmla="*/ 695325 w 4183135"/>
              <a:gd name="connsiteY7-16" fmla="*/ 6237288 h 6237288"/>
              <a:gd name="connsiteX8-17" fmla="*/ 695325 w 4183135"/>
              <a:gd name="connsiteY8-18" fmla="*/ 6237288 h 6237288"/>
              <a:gd name="connsiteX9" fmla="*/ 695325 w 4183135"/>
              <a:gd name="connsiteY9" fmla="*/ 1615442 h 6237288"/>
              <a:gd name="connsiteX0-19" fmla="*/ 0 w 3487810"/>
              <a:gd name="connsiteY0-20" fmla="*/ 0 h 4621846"/>
              <a:gd name="connsiteX1-21" fmla="*/ 0 w 3487810"/>
              <a:gd name="connsiteY1-22" fmla="*/ 0 h 4621846"/>
              <a:gd name="connsiteX2-23" fmla="*/ 3487810 w 3487810"/>
              <a:gd name="connsiteY2-24" fmla="*/ 0 h 4621846"/>
              <a:gd name="connsiteX3-25" fmla="*/ 3487810 w 3487810"/>
              <a:gd name="connsiteY3-26" fmla="*/ 0 h 4621846"/>
              <a:gd name="connsiteX4-27" fmla="*/ 3487810 w 3487810"/>
              <a:gd name="connsiteY4-28" fmla="*/ 4621846 h 4621846"/>
              <a:gd name="connsiteX5-29" fmla="*/ 3487810 w 3487810"/>
              <a:gd name="connsiteY5-30" fmla="*/ 4621846 h 4621846"/>
              <a:gd name="connsiteX6-31" fmla="*/ 0 w 3487810"/>
              <a:gd name="connsiteY6-32" fmla="*/ 4621846 h 4621846"/>
              <a:gd name="connsiteX7-33" fmla="*/ 0 w 3487810"/>
              <a:gd name="connsiteY7-34" fmla="*/ 4621846 h 4621846"/>
              <a:gd name="connsiteX8-35" fmla="*/ 0 w 3487810"/>
              <a:gd name="connsiteY8-36" fmla="*/ 0 h 46218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87810" h="4621846">
                <a:moveTo>
                  <a:pt x="0" y="0"/>
                </a:moveTo>
                <a:lnTo>
                  <a:pt x="0" y="0"/>
                </a:lnTo>
                <a:lnTo>
                  <a:pt x="3487810" y="0"/>
                </a:lnTo>
                <a:lnTo>
                  <a:pt x="3487810" y="0"/>
                </a:lnTo>
                <a:lnTo>
                  <a:pt x="3487810" y="4621846"/>
                </a:lnTo>
                <a:lnTo>
                  <a:pt x="3487810" y="4621846"/>
                </a:lnTo>
                <a:lnTo>
                  <a:pt x="0" y="4621846"/>
                </a:lnTo>
                <a:lnTo>
                  <a:pt x="0" y="46218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2" name="文本框 111"/>
          <p:cNvSpPr txBox="1"/>
          <p:nvPr>
            <p:custDataLst>
              <p:tags r:id="rId14"/>
            </p:custDataLst>
          </p:nvPr>
        </p:nvSpPr>
        <p:spPr>
          <a:xfrm>
            <a:off x="3464560" y="2134235"/>
            <a:ext cx="2116478" cy="2011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4096-slot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SIMD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批量点积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BSGS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旋转优化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密态任务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批处理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+ 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流水线</a:t>
            </a:r>
            <a:endParaRPr lang="en-US" altLang="zh-CN" sz="1800" b="1" dirty="0">
              <a:latin typeface="Arial" panose="020B0604020202020204" pitchFamily="34" charset="0"/>
              <a:ea typeface="思源宋体 CN Heavy"/>
            </a:endParaRPr>
          </a:p>
          <a:p>
            <a:pPr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密态相似度计算延迟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200–250 </a:t>
            </a:r>
            <a:r>
              <a:rPr lang="en-US" altLang="zh-CN" sz="1800" b="1" dirty="0" err="1">
                <a:latin typeface="Arial" panose="020B0604020202020204" pitchFamily="34" charset="0"/>
                <a:ea typeface="思源宋体 CN Heavy"/>
              </a:rPr>
              <a:t>ms</a:t>
            </a:r>
            <a:endParaRPr lang="zh-CN" altLang="en-US" sz="1800" b="1" dirty="0">
              <a:latin typeface="Arial" panose="020B0604020202020204" pitchFamily="34" charset="0"/>
              <a:ea typeface="思源宋体 CN Heavy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849620" y="1581785"/>
            <a:ext cx="2134870" cy="2615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6" name="Rectangle 3"/>
          <p:cNvSpPr/>
          <p:nvPr>
            <p:custDataLst>
              <p:tags r:id="rId15"/>
            </p:custDataLst>
          </p:nvPr>
        </p:nvSpPr>
        <p:spPr bwMode="auto">
          <a:xfrm>
            <a:off x="5790664" y="1986544"/>
            <a:ext cx="213487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客户端 </a:t>
            </a: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Top-T + 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随机混淆</a:t>
            </a:r>
            <a:endParaRPr lang="en-US" altLang="zh-CN" sz="1800" b="1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800" dirty="0"/>
          </a:p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800" dirty="0"/>
          </a:p>
          <a:p>
            <a:pPr marR="0" indent="-28575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8938" y="1286532"/>
            <a:ext cx="894715" cy="6858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73500" y="1395095"/>
            <a:ext cx="1286510" cy="7207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72530" y="1384595"/>
            <a:ext cx="1268730" cy="672141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1580515" y="305206"/>
            <a:ext cx="6101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 bwMode="auto">
          <a:xfrm>
            <a:off x="2245082" y="113893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创新优势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759351" y="2215121"/>
            <a:ext cx="22950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   </a:t>
            </a:r>
            <a:r>
              <a:rPr lang="zh-CN" altLang="zh-CN" sz="1800" b="1" dirty="0">
                <a:latin typeface="Arial" panose="020B0604020202020204" pitchFamily="34" charset="0"/>
                <a:ea typeface="思源宋体 CN Heavy"/>
              </a:rPr>
              <a:t>恒定输出长度</a:t>
            </a:r>
            <a:r>
              <a:rPr lang="zh-CN" altLang="zh-CN" sz="1800" dirty="0">
                <a:latin typeface="Arial" panose="020B0604020202020204" pitchFamily="34" charset="0"/>
                <a:ea typeface="思源宋体 CN Heavy"/>
              </a:rPr>
              <a:t>隐藏访问路径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   得分、排序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</a:rPr>
              <a:t>逻辑全程加密</a:t>
            </a:r>
            <a:endParaRPr lang="en-US" altLang="zh-CN" sz="1800" b="1" dirty="0">
              <a:latin typeface="Arial" panose="020B0604020202020204" pitchFamily="34" charset="0"/>
              <a:ea typeface="思源宋体 CN Heavy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800" b="1" dirty="0">
                <a:latin typeface="Arial" panose="020B0604020202020204" pitchFamily="34" charset="0"/>
                <a:ea typeface="思源宋体 CN Heavy"/>
              </a:rPr>
              <a:t>   TLS + HMAC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实现端到端安全</a:t>
            </a:r>
            <a:endParaRPr lang="zh-CN" altLang="zh-CN" sz="1800" dirty="0">
              <a:latin typeface="Arial" panose="020B0604020202020204" pitchFamily="34" charset="0"/>
              <a:ea typeface="思源宋体 CN Heav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03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089923" y="2604545"/>
            <a:ext cx="29895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44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845948" y="3372917"/>
            <a:ext cx="513206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Perfommance &amp; Security</a:t>
            </a:r>
            <a:endParaRPr kumimoji="0" lang="en-US" altLang="zh-CN" sz="1200" b="0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第三单元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1259205" y="934085"/>
            <a:ext cx="270573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数据来源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293995" y="945515"/>
            <a:ext cx="270573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硬件环境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205095" y="3087370"/>
            <a:ext cx="270573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ea typeface="思源宋体 CN Heavy"/>
              </a:rPr>
              <a:t>CKKS</a:t>
            </a:r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参数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sp>
        <p:nvSpPr>
          <p:cNvPr id="110" name="Rectangle 1"/>
          <p:cNvSpPr/>
          <p:nvPr>
            <p:custDataLst>
              <p:tags r:id="rId1"/>
            </p:custDataLst>
          </p:nvPr>
        </p:nvSpPr>
        <p:spPr bwMode="auto">
          <a:xfrm>
            <a:off x="239395" y="1708150"/>
            <a:ext cx="4522470" cy="133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Respiratory Sound Database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呼吸音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PhysioNet Heart Sound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心音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TestData-Lung Sound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肺部呼吸音</a:t>
            </a:r>
            <a:endParaRPr lang="zh-CN" altLang="en-US" sz="1800" dirty="0">
              <a:latin typeface="Arial" panose="020B0604020202020204" pitchFamily="34" charset="0"/>
              <a:ea typeface="思源宋体 CN Heavy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9400" y="1435735"/>
            <a:ext cx="1083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思源宋体 CN Heavy"/>
              </a:rPr>
              <a:t>音频</a:t>
            </a:r>
            <a:endParaRPr lang="zh-CN" altLang="en-US" sz="2000" b="1" dirty="0">
              <a:ea typeface="思源宋体 CN Heavy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6230" y="3066415"/>
            <a:ext cx="1083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思源宋体 CN Heavy"/>
              </a:rPr>
              <a:t>图像</a:t>
            </a:r>
            <a:endParaRPr lang="zh-CN" altLang="en-US" sz="2000" b="1" dirty="0">
              <a:ea typeface="思源宋体 CN Heavy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4000" y="3429000"/>
            <a:ext cx="4572000" cy="4584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  <a:sym typeface="+mn-ea"/>
              </a:rPr>
              <a:t>ISIC 2020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皮肤镜图像</a:t>
            </a:r>
            <a:endParaRPr lang="zh-CN" altLang="en-US" sz="1800" dirty="0">
              <a:latin typeface="Arial" panose="020B0604020202020204" pitchFamily="34" charset="0"/>
              <a:ea typeface="思源宋体 CN Heavy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25120" y="3947795"/>
            <a:ext cx="1083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思源宋体 CN Heavy"/>
              </a:rPr>
              <a:t>文本</a:t>
            </a:r>
            <a:endParaRPr lang="zh-CN" altLang="en-US" sz="2000" b="1" dirty="0">
              <a:ea typeface="思源宋体 CN Heavy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7490" y="4337685"/>
            <a:ext cx="4572000" cy="4584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  <a:sym typeface="+mn-ea"/>
              </a:rPr>
              <a:t>PubMed Central 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病例信息</a:t>
            </a:r>
            <a:endParaRPr lang="zh-CN" altLang="en-US" sz="1800" dirty="0">
              <a:latin typeface="Arial" panose="020B0604020202020204" pitchFamily="34" charset="0"/>
              <a:ea typeface="思源宋体 CN Heavy"/>
              <a:sym typeface="+mn-ea"/>
            </a:endParaRPr>
          </a:p>
        </p:txBody>
      </p:sp>
      <p:sp>
        <p:nvSpPr>
          <p:cNvPr id="29" name="Rectangle 1"/>
          <p:cNvSpPr/>
          <p:nvPr>
            <p:custDataLst>
              <p:tags r:id="rId2"/>
            </p:custDataLst>
          </p:nvPr>
        </p:nvSpPr>
        <p:spPr bwMode="auto">
          <a:xfrm>
            <a:off x="4547235" y="1651635"/>
            <a:ext cx="4522470" cy="133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CPU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：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Intel i5-13500H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（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2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核）</a:t>
            </a:r>
            <a:endParaRPr lang="zh-CN" altLang="en-US" sz="1800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内存：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4 GB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HE Library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</a:rPr>
              <a:t>：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</a:rPr>
              <a:t>Microsoft SEAL 4.1</a:t>
            </a:r>
            <a:endParaRPr lang="en-US" altLang="zh-CN" sz="1800" dirty="0">
              <a:latin typeface="Arial" panose="020B0604020202020204" pitchFamily="34" charset="0"/>
              <a:ea typeface="思源宋体 CN Heavy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670" y="967105"/>
            <a:ext cx="631825" cy="41148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185" y="3065780"/>
            <a:ext cx="743585" cy="44894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095" y="908685"/>
            <a:ext cx="588645" cy="495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4572000" y="3489315"/>
                <a:ext cx="4522470" cy="13741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spAutoFit/>
              </a:bodyPr>
              <a:lstStyle/>
              <a:p>
                <a:pPr marR="0" indent="-285750" defTabSz="9144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zh-CN" altLang="en-US" sz="1800" dirty="0">
                    <a:latin typeface="Arial" panose="020B0604020202020204" pitchFamily="34" charset="0"/>
                    <a:ea typeface="思源宋体 CN Heavy"/>
                  </a:rPr>
                  <a:t>多项式模数：</a:t>
                </a:r>
                <a:r>
                  <a:rPr lang="en-US" altLang="zh-CN" sz="1800" dirty="0">
                    <a:latin typeface="Arial" panose="020B0604020202020204" pitchFamily="34" charset="0"/>
                    <a:ea typeface="思源宋体 CN Heavy"/>
                  </a:rPr>
                  <a:t>8192</a:t>
                </a:r>
                <a:endParaRPr lang="zh-CN" altLang="en-US" sz="1800" dirty="0">
                  <a:latin typeface="Arial" panose="020B0604020202020204" pitchFamily="34" charset="0"/>
                  <a:ea typeface="思源宋体 CN Heavy"/>
                </a:endParaRPr>
              </a:p>
              <a:p>
                <a:pPr marR="0" indent="-285750" defTabSz="9144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zh-CN" altLang="en-US" sz="1800" dirty="0">
                    <a:latin typeface="Arial" panose="020B0604020202020204" pitchFamily="34" charset="0"/>
                    <a:ea typeface="思源宋体 CN Heavy"/>
                  </a:rPr>
                  <a:t>缩放因子：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思源宋体 CN Heavy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思源宋体 CN Heavy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思源宋体 CN Heavy"/>
                          </a:rPr>
                          <m:t>40</m:t>
                        </m:r>
                      </m:sup>
                    </m:sSup>
                  </m:oMath>
                </a14:m>
                <a:endParaRPr lang="en-US" altLang="zh-CN" sz="2000" dirty="0">
                  <a:latin typeface="Arial" panose="020B0604020202020204" pitchFamily="34" charset="0"/>
                  <a:ea typeface="思源宋体 CN Heavy"/>
                </a:endParaRPr>
              </a:p>
              <a:p>
                <a:pPr marR="0" indent="-285750" defTabSz="9144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zh-CN" altLang="en-US" sz="1800" dirty="0">
                    <a:latin typeface="Arial" panose="020B0604020202020204" pitchFamily="34" charset="0"/>
                    <a:ea typeface="思源宋体 CN Heavy"/>
                  </a:rPr>
                  <a:t>槽数（</a:t>
                </a:r>
                <a:r>
                  <a:rPr lang="en-US" altLang="zh-CN" sz="1800" dirty="0">
                    <a:latin typeface="Arial" panose="020B0604020202020204" pitchFamily="34" charset="0"/>
                    <a:ea typeface="思源宋体 CN Heavy"/>
                  </a:rPr>
                  <a:t>slots</a:t>
                </a:r>
                <a:r>
                  <a:rPr lang="zh-CN" altLang="en-US" sz="1800" dirty="0">
                    <a:latin typeface="Arial" panose="020B0604020202020204" pitchFamily="34" charset="0"/>
                    <a:ea typeface="思源宋体 CN Heavy"/>
                  </a:rPr>
                  <a:t>）：</a:t>
                </a:r>
                <a:r>
                  <a:rPr lang="en-US" altLang="zh-CN" sz="1800" dirty="0">
                    <a:latin typeface="Arial" panose="020B0604020202020204" pitchFamily="34" charset="0"/>
                    <a:ea typeface="思源宋体 CN Heavy"/>
                  </a:rPr>
                  <a:t>4096</a:t>
                </a:r>
                <a:endParaRPr lang="en-US" altLang="zh-CN" sz="1800" dirty="0">
                  <a:latin typeface="Arial" panose="020B0604020202020204" pitchFamily="34" charset="0"/>
                  <a:ea typeface="思源宋体 CN Heavy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572000" y="3489315"/>
                <a:ext cx="4522470" cy="1374159"/>
              </a:xfrm>
              <a:prstGeom prst="rect">
                <a:avLst/>
              </a:prstGeom>
              <a:blipFill rotWithShape="1">
                <a:blip r:embed="rId8"/>
                <a:stretch>
                  <a:fillRect t="-45" b="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1663065" y="558800"/>
            <a:ext cx="547814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多模态性能测试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9780" y="936625"/>
            <a:ext cx="2329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思源宋体 CN Heavy"/>
              </a:rPr>
              <a:t>性能测试与结果</a:t>
            </a:r>
            <a:endParaRPr lang="zh-CN" altLang="en-US" sz="2000" b="1" dirty="0">
              <a:ea typeface="思源宋体 CN Heavy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9780" y="3126740"/>
            <a:ext cx="2329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性能分析</a:t>
            </a:r>
            <a:endParaRPr lang="zh-CN" alt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2033046" y="2636047"/>
            <a:ext cx="8595995" cy="101186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600" dirty="0">
              <a:latin typeface="Arial" panose="020B0604020202020204" pitchFamily="34" charset="0"/>
              <a:ea typeface="思源宋体 CN Heavy"/>
              <a:sym typeface="+mn-ea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思源宋体 CN Heavy"/>
                <a:sym typeface="+mn-ea"/>
              </a:rPr>
              <a:t>E2E </a:t>
            </a:r>
            <a:r>
              <a:rPr lang="zh-CN" altLang="en-US" sz="2000" dirty="0">
                <a:latin typeface="Arial" panose="020B0604020202020204" pitchFamily="34" charset="0"/>
                <a:ea typeface="思源宋体 CN Heavy"/>
                <a:sym typeface="+mn-ea"/>
              </a:rPr>
              <a:t>延迟控制在较低水平</a:t>
            </a:r>
            <a:endParaRPr lang="en-US" altLang="zh-CN" sz="2000" dirty="0">
              <a:latin typeface="Arial" panose="020B0604020202020204" pitchFamily="34" charset="0"/>
              <a:ea typeface="思源宋体 CN Heavy"/>
              <a:sym typeface="+mn-ea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dirty="0">
                <a:latin typeface="Arial" panose="020B0604020202020204" pitchFamily="34" charset="0"/>
                <a:ea typeface="思源宋体 CN Heavy"/>
                <a:sym typeface="+mn-ea"/>
              </a:rPr>
              <a:t>多模态结合提供全面的医学数据检索</a:t>
            </a:r>
            <a:endParaRPr lang="zh-CN" altLang="en-US" sz="2000" dirty="0">
              <a:latin typeface="Arial" panose="020B0604020202020204" pitchFamily="34" charset="0"/>
              <a:ea typeface="思源宋体 CN Heavy"/>
              <a:sym typeface="+mn-ea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dirty="0">
                <a:latin typeface="Arial" panose="020B0604020202020204" pitchFamily="34" charset="0"/>
                <a:ea typeface="思源宋体 CN Heavy"/>
                <a:sym typeface="+mn-ea"/>
              </a:rPr>
              <a:t>秒级响应，高效检索</a:t>
            </a:r>
            <a:endParaRPr lang="en-US" altLang="zh-CN" sz="2000" dirty="0">
              <a:latin typeface="Arial" panose="020B0604020202020204" pitchFamily="34" charset="0"/>
              <a:ea typeface="思源宋体 CN Heavy"/>
              <a:sym typeface="+mn-ea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2000" dirty="0">
                <a:latin typeface="Arial" panose="020B0604020202020204" pitchFamily="34" charset="0"/>
                <a:ea typeface="思源宋体 CN Heavy"/>
                <a:sym typeface="+mn-ea"/>
              </a:rPr>
              <a:t>效率、隐私与准确性的平衡</a:t>
            </a:r>
            <a:endParaRPr lang="zh-CN" altLang="en-US" sz="2000" dirty="0">
              <a:latin typeface="Arial" panose="020B0604020202020204" pitchFamily="34" charset="0"/>
              <a:ea typeface="思源宋体 CN Heavy"/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8650" y="1370013"/>
          <a:ext cx="831659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355"/>
                <a:gridCol w="1818640"/>
                <a:gridCol w="1874520"/>
                <a:gridCol w="1163320"/>
                <a:gridCol w="1412875"/>
                <a:gridCol w="1111885"/>
              </a:tblGrid>
              <a:tr h="60960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模态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明文粗排延迟 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密文精排延迟 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E2E 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延迟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TipToe 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E2E 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延迟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Recall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@20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图像</a:t>
                      </a:r>
                      <a:endParaRPr lang="zh-CN" altLang="en-US" sz="2000" b="0" kern="120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0.011s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2.73s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≈ 3.0s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3.5s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50%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音频</a:t>
                      </a:r>
                      <a:endParaRPr lang="zh-CN" altLang="en-US" sz="2000" b="0" kern="120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0.080s</a:t>
                      </a:r>
                      <a:endParaRPr lang="en-US" altLang="zh-CN" sz="2000" b="0" kern="120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2.73s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≈ 3.0s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N/A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52%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59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文本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0.011s</a:t>
                      </a:r>
                      <a:endParaRPr lang="en-US" altLang="zh-CN" sz="2000" b="0" kern="120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2.83s</a:t>
                      </a:r>
                      <a:endParaRPr lang="en-US" altLang="zh-CN" sz="2000" b="0" kern="120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≈ 3.2s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>
                        <a:buNone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2.7s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685800" rtl="0" eaLnBrk="1" latinLnBrk="0" hangingPunct="1"/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+mn-lt"/>
                          <a:ea typeface="思源宋体 CN Heavy"/>
                          <a:cs typeface="+mn-cs"/>
                        </a:rPr>
                        <a:t>45%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+mn-lt"/>
                        <a:ea typeface="思源宋体 CN Heavy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架构与创新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  <a:p>
            <a:pPr algn="l"/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1239491" y="514401"/>
            <a:ext cx="690822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多模态检索的</a:t>
            </a:r>
            <a:r>
              <a:rPr lang="en-US" altLang="zh-CN" sz="20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 E2E </a:t>
            </a:r>
            <a:r>
              <a:rPr lang="zh-CN" altLang="en-US" sz="20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延迟随</a:t>
            </a:r>
            <a:r>
              <a:rPr lang="en-US" altLang="zh-CN" sz="20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 T </a:t>
            </a:r>
            <a:r>
              <a:rPr lang="zh-CN" altLang="en-US" sz="2000" b="1" dirty="0">
                <a:effectLst/>
                <a:ea typeface="思源宋体 CN Heavy"/>
                <a:cs typeface="Arial" panose="020B0604020202020204" pitchFamily="34" charset="0"/>
                <a:sym typeface="+mn-ea"/>
              </a:rPr>
              <a:t>变化</a:t>
            </a:r>
            <a:endParaRPr lang="en-US" altLang="zh-CN" sz="20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  <a:p>
            <a:pPr algn="r"/>
            <a:r>
              <a:rPr lang="en-US" altLang="zh-CN" sz="2000" dirty="0"/>
              <a:t>                               —— </a:t>
            </a:r>
            <a:r>
              <a:rPr lang="zh-CN" altLang="en-US" sz="2000" dirty="0"/>
              <a:t>固定配置：总簇数 </a:t>
            </a:r>
            <a:r>
              <a:rPr lang="en-US" altLang="zh-CN" sz="2000" dirty="0"/>
              <a:t>L = 32</a:t>
            </a:r>
            <a:r>
              <a:rPr lang="zh-CN" altLang="en-US" sz="2000" dirty="0"/>
              <a:t>，</a:t>
            </a:r>
            <a:r>
              <a:rPr lang="en-US" altLang="zh-CN" sz="2000" dirty="0"/>
              <a:t>Top-T = 16</a:t>
            </a:r>
            <a:endParaRPr lang="zh-CN" altLang="en-US" sz="2000" b="1" dirty="0">
              <a:effectLst/>
              <a:ea typeface="思源宋体 CN Heavy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3155" y="1218735"/>
            <a:ext cx="3529330" cy="2874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延迟随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扩展的意义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en-US" altLang="zh-CN" sz="2000" dirty="0">
                <a:ea typeface="思源宋体 CN Heavy"/>
              </a:rPr>
              <a:t>T = Top-T </a:t>
            </a:r>
            <a:r>
              <a:rPr lang="zh-CN" altLang="en-US" sz="2000" dirty="0">
                <a:ea typeface="思源宋体 CN Heavy"/>
              </a:rPr>
              <a:t>访问簇数，用于访问模式隐藏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  </a:t>
            </a:r>
            <a:r>
              <a:rPr lang="en-US" altLang="zh-CN" sz="2000" dirty="0">
                <a:ea typeface="思源宋体 CN Heavy"/>
              </a:rPr>
              <a:t>T ≥ 8 </a:t>
            </a:r>
            <a:r>
              <a:rPr lang="zh-CN" altLang="en-US" sz="2000" dirty="0">
                <a:ea typeface="思源宋体 CN Heavy"/>
              </a:rPr>
              <a:t>后延迟收敛，隐私增强不拉高开销</a:t>
            </a:r>
            <a:endParaRPr lang="zh-CN" altLang="en-US" sz="2000" dirty="0">
              <a:ea typeface="思源宋体 CN Heavy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</a:t>
            </a:r>
            <a:r>
              <a:rPr lang="zh-CN" altLang="en-US" sz="2000" dirty="0"/>
              <a:t>三模态曲线一致，说明后端管线稳定高效</a:t>
            </a:r>
            <a:endParaRPr lang="en-US" altLang="zh-CN" sz="2000" dirty="0"/>
          </a:p>
          <a:p>
            <a:r>
              <a:rPr lang="en-US" altLang="zh-CN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·</a:t>
            </a: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微软雅黑" panose="020B0503020204020204" pitchFamily="34" charset="-122"/>
              </a:rPr>
              <a:t>隐私、检索效果和计算成本较好平衡</a:t>
            </a:r>
            <a:endParaRPr lang="en-US" altLang="zh-CN" sz="2000" dirty="0">
              <a:latin typeface="微软雅黑" panose="020B0503020204020204" pitchFamily="34" charset="-122"/>
              <a:ea typeface="思源宋体 CN Heavy"/>
              <a:cs typeface="微软雅黑" panose="020B0503020204020204" pitchFamily="34" charset="-122"/>
            </a:endParaRPr>
          </a:p>
          <a:p>
            <a:endParaRPr lang="en-US" altLang="zh-CN" sz="2000" dirty="0"/>
          </a:p>
          <a:p>
            <a:endParaRPr lang="zh-CN" altLang="en-US" sz="2000" dirty="0">
              <a:solidFill>
                <a:schemeClr val="tx1"/>
              </a:solidFill>
              <a:ea typeface="思源宋体 CN Heavy"/>
            </a:endParaRPr>
          </a:p>
          <a:p>
            <a:endParaRPr lang="zh-CN" altLang="en-US" dirty="0"/>
          </a:p>
          <a:p>
            <a:endParaRPr lang="en-US" altLang="zh-CN" dirty="0"/>
          </a:p>
        </p:txBody>
      </p:sp>
      <p:pic>
        <p:nvPicPr>
          <p:cNvPr id="3" name="图片 2" descr="e2e_latency_multimodal_lines_z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305" y="1373068"/>
            <a:ext cx="5230381" cy="34734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1663065" y="558800"/>
            <a:ext cx="547814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系统对比</a:t>
            </a:r>
            <a:r>
              <a:rPr lang="en-US" altLang="zh-CN" sz="2400" b="1" dirty="0">
                <a:solidFill>
                  <a:srgbClr val="000000"/>
                </a:solidFill>
                <a:ea typeface="思源宋体 CN Heavy"/>
              </a:rPr>
              <a:t>——</a:t>
            </a:r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多方案对比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583826" y="1093471"/>
          <a:ext cx="7976347" cy="2096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698"/>
                <a:gridCol w="1472211"/>
                <a:gridCol w="1424783"/>
                <a:gridCol w="1627316"/>
                <a:gridCol w="1809339"/>
              </a:tblGrid>
              <a:tr h="3913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ea typeface="思源宋体 CN Heavy"/>
                        </a:rPr>
                        <a:t>指标</a:t>
                      </a:r>
                      <a:endParaRPr lang="zh-CN" altLang="en-US" sz="1600" dirty="0">
                        <a:solidFill>
                          <a:schemeClr val="bg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  <a:ea typeface="思源宋体 CN Heavy"/>
                        </a:rPr>
                        <a:t>Tiptoe</a:t>
                      </a:r>
                      <a:endParaRPr lang="en-US" altLang="zh-CN" sz="1600">
                        <a:solidFill>
                          <a:schemeClr val="bg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  <a:ea typeface="思源宋体 CN Heavy"/>
                        </a:rPr>
                        <a:t>Pacmann</a:t>
                      </a:r>
                      <a:endParaRPr lang="en-US" altLang="zh-CN" sz="1600">
                        <a:solidFill>
                          <a:schemeClr val="bg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a typeface="思源宋体 CN Heavy"/>
                        </a:rPr>
                        <a:t>本系统</a:t>
                      </a:r>
                      <a:endParaRPr lang="zh-CN" altLang="en-US" sz="16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ea typeface="思源宋体 CN Heavy"/>
                        </a:rPr>
                        <a:t>说明</a:t>
                      </a:r>
                      <a:endParaRPr lang="zh-CN" altLang="en-US" sz="1600">
                        <a:solidFill>
                          <a:schemeClr val="bg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30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Client Storage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Text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：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307 MB </a:t>
                      </a:r>
                      <a:endParaRPr lang="en-US" altLang="zh-CN" sz="1600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Image:717 MB</a:t>
                      </a:r>
                      <a:endParaRPr lang="en-US" altLang="zh-CN" sz="1600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614MB 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a typeface="思源宋体 CN Heavy"/>
                        </a:rPr>
                        <a:t>300 MB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ea typeface="思源宋体 CN Heavy"/>
                        </a:rPr>
                        <a:t>远小于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Pacmann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755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Communication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Text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ea typeface="思源宋体 CN Heavy"/>
                        </a:rPr>
                        <a:t>：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57 MB 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Image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ea typeface="思源宋体 CN Heavy"/>
                        </a:rPr>
                        <a:t>：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ea typeface="思源宋体 CN Heavy"/>
                        </a:rPr>
                        <a:t>71 MB</a:t>
                      </a:r>
                      <a:endParaRPr lang="en-US" altLang="zh-CN" sz="160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61.6MB </a:t>
                      </a:r>
                      <a:endParaRPr lang="en-US" altLang="zh-CN" sz="1600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最大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)</a:t>
                      </a:r>
                      <a:endParaRPr lang="en-US" altLang="zh-CN" sz="1600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a typeface="思源宋体 CN Heavy"/>
                        </a:rPr>
                        <a:t>2.2 MB 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a typeface="思源宋体 CN Heavy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a typeface="思源宋体 CN Heavy"/>
                        </a:rPr>
                        <a:t>最小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a typeface="思源宋体 CN Heavy"/>
                        </a:rPr>
                        <a:t>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ea typeface="思源宋体 CN Heavy"/>
                        </a:rPr>
                        <a:t>本系统</a:t>
                      </a:r>
                      <a:r>
                        <a:rPr lang="zh-CN" altLang="en-US" sz="1600" b="1" dirty="0">
                          <a:solidFill>
                            <a:srgbClr val="304371"/>
                          </a:solidFill>
                          <a:ea typeface="思源宋体 CN Heavy"/>
                        </a:rPr>
                        <a:t>通信占用最小</a:t>
                      </a:r>
                      <a:endParaRPr lang="zh-CN" altLang="en-US" sz="1600" b="1" dirty="0">
                        <a:solidFill>
                          <a:srgbClr val="304371"/>
                        </a:solidFill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13385" y="3203096"/>
            <a:ext cx="2329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ea typeface="思源宋体 CN Heavy"/>
              </a:rPr>
              <a:t>性能分析</a:t>
            </a:r>
            <a:endParaRPr lang="zh-CN" altLang="en-US" sz="2000" b="1" dirty="0">
              <a:ea typeface="思源宋体 CN Heavy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3385" y="3590289"/>
            <a:ext cx="8595995" cy="919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存储占用：项目的存储占用在所有系统中较小，适应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  <a:sym typeface="+mn-ea"/>
              </a:rPr>
              <a:t>医院的硬件环境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。</a:t>
            </a:r>
            <a:endParaRPr lang="en-US" altLang="zh-CN" sz="1800" dirty="0">
              <a:latin typeface="Arial" panose="020B0604020202020204" pitchFamily="34" charset="0"/>
              <a:ea typeface="思源宋体 CN Heavy"/>
              <a:sym typeface="+mn-ea"/>
            </a:endParaRPr>
          </a:p>
          <a:p>
            <a:pPr marR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通信量：每次查询通信量</a:t>
            </a:r>
            <a:r>
              <a:rPr lang="en-US" altLang="zh-CN" sz="1800" dirty="0">
                <a:latin typeface="Arial" panose="020B0604020202020204" pitchFamily="34" charset="0"/>
                <a:ea typeface="思源宋体 CN Heavy"/>
                <a:sym typeface="+mn-ea"/>
              </a:rPr>
              <a:t> 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，本系统表现最佳。系统在</a:t>
            </a:r>
            <a:r>
              <a:rPr lang="zh-CN" altLang="en-US" sz="1800" b="1" dirty="0">
                <a:latin typeface="Arial" panose="020B0604020202020204" pitchFamily="34" charset="0"/>
                <a:ea typeface="思源宋体 CN Heavy"/>
                <a:sym typeface="+mn-ea"/>
              </a:rPr>
              <a:t>跨医院传输数据</a:t>
            </a:r>
            <a:r>
              <a:rPr lang="zh-CN" altLang="en-US" sz="1800" dirty="0">
                <a:latin typeface="Arial" panose="020B0604020202020204" pitchFamily="34" charset="0"/>
                <a:ea typeface="思源宋体 CN Heavy"/>
                <a:sym typeface="+mn-ea"/>
              </a:rPr>
              <a:t>时更具优势</a:t>
            </a:r>
            <a:endParaRPr lang="zh-CN" altLang="en-US" sz="1800" dirty="0">
              <a:latin typeface="Arial" panose="020B0604020202020204" pitchFamily="34" charset="0"/>
              <a:ea typeface="思源宋体 CN Heavy"/>
              <a:sym typeface="+mn-ea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1663065" y="558800"/>
            <a:ext cx="5478145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隐私性对比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0271" y="1012190"/>
          <a:ext cx="7853082" cy="361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14"/>
                <a:gridCol w="1509395"/>
                <a:gridCol w="1509395"/>
                <a:gridCol w="1509395"/>
                <a:gridCol w="1814083"/>
              </a:tblGrid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隐私维度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a typeface="思源宋体 CN Heavy"/>
                        </a:rPr>
                        <a:t>Tiptoe (2023)</a:t>
                      </a:r>
                      <a:endParaRPr lang="en-US" altLang="zh-CN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a typeface="思源宋体 CN Heavy"/>
                        </a:rPr>
                        <a:t>Wally (2024)</a:t>
                      </a:r>
                      <a:endParaRPr lang="en-US" altLang="zh-CN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a typeface="思源宋体 CN Heavy"/>
                        </a:rPr>
                        <a:t>Faiss ANN</a:t>
                      </a:r>
                      <a:r>
                        <a:rPr lang="zh-CN" altLang="en-US" sz="1400">
                          <a:ea typeface="思源宋体 CN Heavy"/>
                        </a:rPr>
                        <a:t>（明文基线）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本系统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查询向量是否密态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加密（</a:t>
                      </a:r>
                      <a:r>
                        <a:rPr lang="en-US" altLang="zh-CN" sz="1400" dirty="0">
                          <a:ea typeface="思源宋体 CN Heavy"/>
                        </a:rPr>
                        <a:t>LHE</a:t>
                      </a:r>
                      <a:r>
                        <a:rPr lang="zh-CN" altLang="en-US" sz="1400" dirty="0">
                          <a:ea typeface="思源宋体 CN Heavy"/>
                        </a:rPr>
                        <a:t>）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加密（</a:t>
                      </a:r>
                      <a:r>
                        <a:rPr lang="en-US" altLang="zh-CN" sz="1400">
                          <a:ea typeface="思源宋体 CN Heavy"/>
                        </a:rPr>
                        <a:t>SHE</a:t>
                      </a:r>
                      <a:r>
                        <a:rPr lang="zh-CN" altLang="en-US" sz="1400">
                          <a:ea typeface="思源宋体 CN Heavy"/>
                        </a:rPr>
                        <a:t>）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明文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a typeface="思源宋体 CN Heavy"/>
                        </a:rPr>
                        <a:t>CKKS </a:t>
                      </a:r>
                      <a:r>
                        <a:rPr lang="zh-CN" altLang="en-US" sz="1400" dirty="0">
                          <a:ea typeface="思源宋体 CN Heavy"/>
                        </a:rPr>
                        <a:t>全密态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得分是否密态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加密返回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加密返回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明文评分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a typeface="思源宋体 CN Heavy"/>
                        </a:rPr>
                        <a:t>score </a:t>
                      </a:r>
                      <a:r>
                        <a:rPr lang="zh-CN" altLang="en-US" sz="1400" dirty="0">
                          <a:ea typeface="思源宋体 CN Heavy"/>
                        </a:rPr>
                        <a:t>全密态 </a:t>
                      </a:r>
                      <a:r>
                        <a:rPr lang="en-US" altLang="zh-CN" sz="1400" dirty="0">
                          <a:ea typeface="思源宋体 CN Heavy"/>
                        </a:rPr>
                        <a:t>+ </a:t>
                      </a:r>
                      <a:r>
                        <a:rPr lang="zh-CN" altLang="en-US" sz="1400" dirty="0">
                          <a:ea typeface="思源宋体 CN Heavy"/>
                        </a:rPr>
                        <a:t>客户端解密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访问模式是否隐藏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完全隐藏（遍历 </a:t>
                      </a:r>
                      <a:r>
                        <a:rPr lang="en-US" altLang="zh-CN" sz="1400">
                          <a:ea typeface="思源宋体 CN Heavy"/>
                        </a:rPr>
                        <a:t>+ PIR</a:t>
                      </a:r>
                      <a:r>
                        <a:rPr lang="zh-CN" altLang="en-US" sz="1400">
                          <a:ea typeface="思源宋体 CN Heavy"/>
                        </a:rPr>
                        <a:t>）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a typeface="思源宋体 CN Heavy"/>
                        </a:rPr>
                        <a:t>Cluster </a:t>
                      </a:r>
                      <a:r>
                        <a:rPr lang="zh-CN" altLang="en-US" sz="1400" dirty="0">
                          <a:ea typeface="思源宋体 CN Heavy"/>
                        </a:rPr>
                        <a:t>级别 </a:t>
                      </a:r>
                      <a:r>
                        <a:rPr lang="en-US" altLang="zh-CN" sz="1400" dirty="0">
                          <a:ea typeface="思源宋体 CN Heavy"/>
                        </a:rPr>
                        <a:t>DP </a:t>
                      </a:r>
                      <a:r>
                        <a:rPr lang="zh-CN" altLang="en-US" sz="1400" dirty="0">
                          <a:ea typeface="思源宋体 CN Heavy"/>
                        </a:rPr>
                        <a:t>噪声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明文暴露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真实簇 </a:t>
                      </a:r>
                      <a:r>
                        <a:rPr lang="en-US" altLang="zh-CN" sz="1400" dirty="0"/>
                        <a:t>+ </a:t>
                      </a:r>
                      <a:r>
                        <a:rPr lang="zh-CN" altLang="en-US" sz="1400" dirty="0"/>
                        <a:t>假簇混淆（完全隐藏）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打分方式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a typeface="思源宋体 CN Heavy"/>
                        </a:rPr>
                        <a:t>HE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a typeface="思源宋体 CN Heavy"/>
                        </a:rPr>
                        <a:t>HE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明文内积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全流程 </a:t>
                      </a:r>
                      <a:r>
                        <a:rPr lang="en-US" altLang="zh-CN" sz="1400" dirty="0"/>
                        <a:t>HE </a:t>
                      </a:r>
                      <a:r>
                        <a:rPr lang="zh-CN" altLang="en-US" sz="1400" dirty="0"/>
                        <a:t>内积</a:t>
                      </a:r>
                      <a:endParaRPr lang="en-US" altLang="zh-CN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多模态支持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文本 </a:t>
                      </a:r>
                      <a:r>
                        <a:rPr lang="en-US" altLang="zh-CN" sz="1400">
                          <a:ea typeface="思源宋体 CN Heavy"/>
                        </a:rPr>
                        <a:t>+ </a:t>
                      </a:r>
                      <a:r>
                        <a:rPr lang="zh-CN" altLang="en-US" sz="1400">
                          <a:ea typeface="思源宋体 CN Heavy"/>
                        </a:rPr>
                        <a:t>图像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文本（协议层）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任意向量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图像 </a:t>
                      </a:r>
                      <a:r>
                        <a:rPr lang="en-US" altLang="zh-CN" sz="1400" dirty="0">
                          <a:ea typeface="思源宋体 CN Heavy"/>
                        </a:rPr>
                        <a:t>+ </a:t>
                      </a:r>
                      <a:r>
                        <a:rPr lang="zh-CN" altLang="en-US" sz="1400" dirty="0">
                          <a:ea typeface="思源宋体 CN Heavy"/>
                        </a:rPr>
                        <a:t>文本 </a:t>
                      </a:r>
                      <a:r>
                        <a:rPr lang="en-US" altLang="zh-CN" sz="1400" dirty="0">
                          <a:ea typeface="思源宋体 CN Heavy"/>
                        </a:rPr>
                        <a:t>+ </a:t>
                      </a:r>
                      <a:r>
                        <a:rPr lang="zh-CN" altLang="en-US" sz="1400" dirty="0">
                          <a:ea typeface="思源宋体 CN Heavy"/>
                        </a:rPr>
                        <a:t>音频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用户隐私强度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强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中等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弱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强（查询、打分、访问均隐藏）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规模支持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数亿级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百万级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a typeface="思源宋体 CN Heavy"/>
                        </a:rPr>
                        <a:t>十亿级</a:t>
                      </a:r>
                      <a:endParaRPr lang="zh-CN" altLang="en-US" sz="140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a typeface="思源宋体 CN Heavy"/>
                        </a:rPr>
                        <a:t>百万级医学多模态</a:t>
                      </a:r>
                      <a:endParaRPr lang="zh-CN" altLang="en-US" sz="1400" dirty="0">
                        <a:ea typeface="思源宋体 CN Heavy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-97156" y="-43698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性能与安全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3442334" y="515103"/>
            <a:ext cx="2065020" cy="5219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0000"/>
                </a:solidFill>
                <a:ea typeface="思源宋体 CN Heavy"/>
              </a:rPr>
              <a:t>安全性分析</a:t>
            </a:r>
            <a:endParaRPr lang="zh-CN" altLang="en-US" sz="2400" b="1" dirty="0">
              <a:solidFill>
                <a:srgbClr val="000000"/>
              </a:solidFill>
              <a:ea typeface="思源宋体 CN Heavy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860306" y="1052986"/>
          <a:ext cx="7737474" cy="36658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326647"/>
                <a:gridCol w="2702859"/>
                <a:gridCol w="2707968"/>
              </a:tblGrid>
              <a:tr h="514594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安全指标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技术机制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效果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514594"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查询隐私性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 伪簇混入、固定候选集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隐藏真实访问簇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15310"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数据机密性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ea typeface="思源宋体 CN Heavy"/>
                        </a:rPr>
                        <a:t> CKKS </a:t>
                      </a:r>
                      <a:r>
                        <a:rPr lang="zh-CN" altLang="en-US" sz="1800" dirty="0">
                          <a:ea typeface="思源宋体 CN Heavy"/>
                        </a:rPr>
                        <a:t>同态加密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全流程无明文泄露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642706"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侧信道防护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 恒定化大小 </a:t>
                      </a:r>
                      <a:r>
                        <a:rPr lang="en-US" altLang="zh-CN" sz="1800" dirty="0">
                          <a:ea typeface="思源宋体 CN Heavy"/>
                        </a:rPr>
                        <a:t>+ </a:t>
                      </a:r>
                      <a:r>
                        <a:rPr lang="zh-CN" altLang="en-US" sz="1800" dirty="0">
                          <a:ea typeface="思源宋体 CN Heavy"/>
                        </a:rPr>
                        <a:t>恒定化时间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防时序</a:t>
                      </a:r>
                      <a:r>
                        <a:rPr lang="en-US" altLang="zh-CN" sz="1800" dirty="0">
                          <a:ea typeface="思源宋体 CN Heavy"/>
                        </a:rPr>
                        <a:t>/</a:t>
                      </a:r>
                      <a:r>
                        <a:rPr lang="zh-CN" altLang="en-US" sz="1800" dirty="0">
                          <a:ea typeface="思源宋体 CN Heavy"/>
                        </a:rPr>
                        <a:t>流量分析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14594"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数据泄露防护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 盲查询 </a:t>
                      </a:r>
                      <a:r>
                        <a:rPr lang="en-US" altLang="zh-CN" sz="1800" dirty="0">
                          <a:ea typeface="思源宋体 CN Heavy"/>
                        </a:rPr>
                        <a:t>+ </a:t>
                      </a:r>
                      <a:r>
                        <a:rPr lang="zh-CN" altLang="en-US" sz="1800" dirty="0">
                          <a:ea typeface="思源宋体 CN Heavy"/>
                        </a:rPr>
                        <a:t>模糊查询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响应不可反推出数据库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964058">
                <a:tc>
                  <a:txBody>
                    <a:bodyPr/>
                    <a:lstStyle/>
                    <a:p>
                      <a:r>
                        <a:rPr lang="zh-CN" altLang="en-US" sz="1800">
                          <a:ea typeface="思源宋体 CN Heavy"/>
                        </a:rPr>
                        <a:t>一致响应性</a:t>
                      </a:r>
                      <a:endParaRPr lang="zh-CN" altLang="en-US" sz="180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 所有请求返回固定大小、   固定结构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a typeface="思源宋体 CN Heavy"/>
                        </a:rPr>
                        <a:t>防止流量分析</a:t>
                      </a:r>
                      <a:endParaRPr lang="zh-CN" altLang="en-US" sz="1800" dirty="0">
                        <a:ea typeface="思源宋体 CN Heavy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04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351148" y="2617767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cs typeface="汉仪旗黑-50S"/>
                <a:sym typeface="汉仪旗黑-50S"/>
              </a:rPr>
              <a:t>作品演示</a:t>
            </a:r>
            <a:endParaRPr lang="zh-CN" altLang="en-US" sz="44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cs typeface="汉仪旗黑-50S"/>
              <a:sym typeface="汉仪旗黑-50S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005968" y="3372917"/>
            <a:ext cx="513206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Demo Presentation</a:t>
            </a:r>
            <a:endParaRPr kumimoji="0" lang="en-US" altLang="zh-CN" sz="1200" b="0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第四单元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作品演示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814333" y="838251"/>
            <a:ext cx="1515335" cy="1515335"/>
            <a:chOff x="3738489" y="766689"/>
            <a:chExt cx="1667021" cy="1667021"/>
          </a:xfrm>
        </p:grpSpPr>
        <p:sp>
          <p:nvSpPr>
            <p:cNvPr id="3" name="椭圆 2"/>
            <p:cNvSpPr/>
            <p:nvPr/>
          </p:nvSpPr>
          <p:spPr>
            <a:xfrm>
              <a:off x="3738489" y="766689"/>
              <a:ext cx="1667021" cy="1667021"/>
            </a:xfrm>
            <a:prstGeom prst="ellipse">
              <a:avLst/>
            </a:prstGeom>
            <a:ln w="57150">
              <a:solidFill>
                <a:srgbClr val="EEF2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3863441" y="1092368"/>
              <a:ext cx="1417116" cy="101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汉仪旗黑-50S"/>
                </a:rPr>
                <a:t>05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汉仪旗黑-50S"/>
              </a:endParaRPr>
            </a:p>
          </p:txBody>
        </p:sp>
      </p:grpSp>
      <p:sp>
        <p:nvSpPr>
          <p:cNvPr id="124" name="矩形 123"/>
          <p:cNvSpPr/>
          <p:nvPr/>
        </p:nvSpPr>
        <p:spPr bwMode="auto">
          <a:xfrm>
            <a:off x="3204223" y="2604545"/>
            <a:ext cx="29895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4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总结与展望</a:t>
            </a:r>
            <a:endParaRPr lang="zh-CN" altLang="en-US" sz="44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2011683" y="3372917"/>
            <a:ext cx="5132064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Conclusion &amp; Future Work</a:t>
            </a:r>
            <a:endParaRPr kumimoji="0" lang="en-US" altLang="zh-CN" sz="1200" b="0" i="0" u="none" strike="noStrike" kern="1200" cap="none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cxnSp>
        <p:nvCxnSpPr>
          <p:cNvPr id="126" name="直接连接符 125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/>
        </p:nvSpPr>
        <p:spPr>
          <a:xfrm>
            <a:off x="4035287" y="4277801"/>
            <a:ext cx="1073426" cy="31010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第五单元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总结与展望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/>
        </p:nvCxnSpPr>
        <p:spPr>
          <a:xfrm>
            <a:off x="1580515" y="305206"/>
            <a:ext cx="6101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2314049" y="11116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作品总结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0" y="748742"/>
            <a:ext cx="6223000" cy="4327017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4" name="矩形: 圆角 13"/>
          <p:cNvSpPr/>
          <p:nvPr/>
        </p:nvSpPr>
        <p:spPr>
          <a:xfrm>
            <a:off x="565965" y="4156783"/>
            <a:ext cx="1014550" cy="53127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ea typeface="思源宋体 CN Heavy"/>
              </a:rPr>
              <a:t>算法</a:t>
            </a:r>
            <a:endParaRPr lang="zh-CN" altLang="en-US" sz="2800" dirty="0">
              <a:ea typeface="思源宋体 CN Heavy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565965" y="3152504"/>
            <a:ext cx="1011441" cy="59454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ea typeface="思源宋体 CN Heavy"/>
              </a:rPr>
              <a:t>语言</a:t>
            </a:r>
            <a:endParaRPr lang="zh-CN" altLang="en-US" sz="2800" dirty="0">
              <a:ea typeface="思源宋体 CN Heavy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589303" y="2101908"/>
            <a:ext cx="964764" cy="5781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ea typeface="思源宋体 CN Heavy"/>
              </a:rPr>
              <a:t>安全</a:t>
            </a:r>
            <a:endParaRPr lang="zh-CN" altLang="en-US" sz="2800" dirty="0">
              <a:ea typeface="思源宋体 CN Heavy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565965" y="1083428"/>
            <a:ext cx="964763" cy="5781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ea typeface="思源宋体 CN Heavy"/>
              </a:rPr>
              <a:t>功能</a:t>
            </a:r>
            <a:endParaRPr lang="zh-CN" altLang="en-US" dirty="0">
              <a:ea typeface="思源宋体 CN Heavy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806624" y="4075699"/>
            <a:ext cx="4190266" cy="6934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8" name="矩形: 圆角 27"/>
          <p:cNvSpPr/>
          <p:nvPr/>
        </p:nvSpPr>
        <p:spPr>
          <a:xfrm>
            <a:off x="1805070" y="3103051"/>
            <a:ext cx="4190266" cy="6934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9" name="矩形: 圆角 28"/>
          <p:cNvSpPr/>
          <p:nvPr/>
        </p:nvSpPr>
        <p:spPr>
          <a:xfrm>
            <a:off x="1805070" y="2040449"/>
            <a:ext cx="4190266" cy="6934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0" name="矩形: 圆角 29"/>
          <p:cNvSpPr/>
          <p:nvPr/>
        </p:nvSpPr>
        <p:spPr>
          <a:xfrm>
            <a:off x="1781731" y="1022824"/>
            <a:ext cx="4190266" cy="6934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877535" y="4154725"/>
            <a:ext cx="1578283" cy="533337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IVF + Residual PQ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34299" y="4139991"/>
            <a:ext cx="1192054" cy="560873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CKKS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79943" y="4139991"/>
            <a:ext cx="1112853" cy="548071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BSGS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01049" y="3195606"/>
            <a:ext cx="1239105" cy="479660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JavaScript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318607" y="3203947"/>
            <a:ext cx="1239105" cy="479661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Python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53691" y="3203947"/>
            <a:ext cx="1239105" cy="479661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tx1"/>
                </a:solidFill>
                <a:ea typeface="思源宋体 CN Heavy"/>
              </a:rPr>
              <a:t>C++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01049" y="2108790"/>
            <a:ext cx="1608359" cy="509804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1"/>
                </a:solidFill>
                <a:ea typeface="思源宋体 CN Heavy"/>
              </a:rPr>
              <a:t>隐私保护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1571" y="2108790"/>
            <a:ext cx="1460857" cy="509804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1"/>
                </a:solidFill>
                <a:ea typeface="思源宋体 CN Heavy"/>
              </a:rPr>
              <a:t>全流程加密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53498" y="1083429"/>
            <a:ext cx="1490496" cy="563584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1"/>
                </a:solidFill>
                <a:ea typeface="思源宋体 CN Heavy"/>
              </a:rPr>
              <a:t>用户交互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650264" y="1083429"/>
            <a:ext cx="2152178" cy="563584"/>
          </a:xfrm>
          <a:prstGeom prst="rect">
            <a:avLst/>
          </a:prstGeom>
          <a:solidFill>
            <a:srgbClr val="FFCC99"/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>
            <a:defPPr>
              <a:defRPr lang="zh-CN">
                <a:solidFill>
                  <a:schemeClr val="accent6"/>
                </a:solidFill>
              </a:defRPr>
            </a:defPPr>
            <a:lvl1pPr marL="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2198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30492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6pPr>
            <a:lvl7pPr marL="36588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4268470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8pPr>
            <a:lvl9pPr marL="4878705" algn="l" defTabSz="1219200" rtl="0" eaLnBrk="1" latinLnBrk="0" hangingPunct="1"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tx1"/>
                </a:solidFill>
                <a:ea typeface="思源宋体 CN Heavy"/>
              </a:rPr>
              <a:t>多模态</a:t>
            </a:r>
            <a:endParaRPr lang="zh-CN" altLang="en-US" sz="2000" b="1" dirty="0">
              <a:solidFill>
                <a:schemeClr val="tx1"/>
              </a:solidFill>
              <a:ea typeface="思源宋体 CN Heavy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098279" y="1125246"/>
            <a:ext cx="2963837" cy="3395155"/>
            <a:chOff x="3864534" y="968608"/>
            <a:chExt cx="4423484" cy="4862279"/>
          </a:xfrm>
        </p:grpSpPr>
        <p:sp>
          <p:nvSpPr>
            <p:cNvPr id="26" name="任意多边形: 形状 25"/>
            <p:cNvSpPr/>
            <p:nvPr/>
          </p:nvSpPr>
          <p:spPr bwMode="auto">
            <a:xfrm>
              <a:off x="4224338" y="1692275"/>
              <a:ext cx="2820988" cy="3281363"/>
            </a:xfrm>
            <a:custGeom>
              <a:avLst/>
              <a:gdLst>
                <a:gd name="T0" fmla="*/ 880 w 2842"/>
                <a:gd name="T1" fmla="*/ 2984 h 3305"/>
                <a:gd name="T2" fmla="*/ 2481 w 2842"/>
                <a:gd name="T3" fmla="*/ 1511 h 3305"/>
                <a:gd name="T4" fmla="*/ 2429 w 2842"/>
                <a:gd name="T5" fmla="*/ 300 h 3305"/>
                <a:gd name="T6" fmla="*/ 2429 w 2842"/>
                <a:gd name="T7" fmla="*/ 300 h 3305"/>
                <a:gd name="T8" fmla="*/ 1245 w 2842"/>
                <a:gd name="T9" fmla="*/ 555 h 3305"/>
                <a:gd name="T10" fmla="*/ 223 w 2842"/>
                <a:gd name="T11" fmla="*/ 2476 h 3305"/>
                <a:gd name="T12" fmla="*/ 880 w 2842"/>
                <a:gd name="T13" fmla="*/ 2984 h 3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2" h="3305">
                  <a:moveTo>
                    <a:pt x="880" y="2984"/>
                  </a:moveTo>
                  <a:cubicBezTo>
                    <a:pt x="2481" y="1511"/>
                    <a:pt x="2481" y="1511"/>
                    <a:pt x="2481" y="1511"/>
                  </a:cubicBezTo>
                  <a:cubicBezTo>
                    <a:pt x="2842" y="1178"/>
                    <a:pt x="2817" y="601"/>
                    <a:pt x="2429" y="300"/>
                  </a:cubicBezTo>
                  <a:cubicBezTo>
                    <a:pt x="2429" y="300"/>
                    <a:pt x="2429" y="300"/>
                    <a:pt x="2429" y="300"/>
                  </a:cubicBezTo>
                  <a:cubicBezTo>
                    <a:pt x="2040" y="0"/>
                    <a:pt x="1475" y="122"/>
                    <a:pt x="1245" y="555"/>
                  </a:cubicBezTo>
                  <a:cubicBezTo>
                    <a:pt x="223" y="2476"/>
                    <a:pt x="223" y="2476"/>
                    <a:pt x="223" y="2476"/>
                  </a:cubicBezTo>
                  <a:cubicBezTo>
                    <a:pt x="0" y="2895"/>
                    <a:pt x="531" y="3305"/>
                    <a:pt x="880" y="29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ea typeface="Adobe 黑体 Std R" panose="020B0400000000000000" pitchFamily="34" charset="-122"/>
              </a:endParaRPr>
            </a:p>
          </p:txBody>
        </p:sp>
        <p:sp>
          <p:nvSpPr>
            <p:cNvPr id="27" name="任意多边形: 形状 26"/>
            <p:cNvSpPr/>
            <p:nvPr/>
          </p:nvSpPr>
          <p:spPr bwMode="auto">
            <a:xfrm>
              <a:off x="5556250" y="1757363"/>
              <a:ext cx="2498725" cy="3484563"/>
            </a:xfrm>
            <a:custGeom>
              <a:avLst/>
              <a:gdLst>
                <a:gd name="T0" fmla="*/ 150 w 2517"/>
                <a:gd name="T1" fmla="*/ 766 h 3510"/>
                <a:gd name="T2" fmla="*/ 839 w 2517"/>
                <a:gd name="T3" fmla="*/ 2830 h 3510"/>
                <a:gd name="T4" fmla="*/ 1964 w 2517"/>
                <a:gd name="T5" fmla="*/ 3278 h 3510"/>
                <a:gd name="T6" fmla="*/ 1964 w 2517"/>
                <a:gd name="T7" fmla="*/ 3278 h 3510"/>
                <a:gd name="T8" fmla="*/ 2216 w 2517"/>
                <a:gd name="T9" fmla="*/ 2093 h 3510"/>
                <a:gd name="T10" fmla="*/ 882 w 2517"/>
                <a:gd name="T11" fmla="*/ 374 h 3510"/>
                <a:gd name="T12" fmla="*/ 150 w 2517"/>
                <a:gd name="T13" fmla="*/ 766 h 3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17" h="3510">
                  <a:moveTo>
                    <a:pt x="150" y="766"/>
                  </a:moveTo>
                  <a:cubicBezTo>
                    <a:pt x="839" y="2830"/>
                    <a:pt x="839" y="2830"/>
                    <a:pt x="839" y="2830"/>
                  </a:cubicBezTo>
                  <a:cubicBezTo>
                    <a:pt x="994" y="3296"/>
                    <a:pt x="1531" y="3510"/>
                    <a:pt x="1964" y="3278"/>
                  </a:cubicBezTo>
                  <a:cubicBezTo>
                    <a:pt x="1964" y="3278"/>
                    <a:pt x="1964" y="3278"/>
                    <a:pt x="1964" y="3278"/>
                  </a:cubicBezTo>
                  <a:cubicBezTo>
                    <a:pt x="2397" y="3047"/>
                    <a:pt x="2517" y="2481"/>
                    <a:pt x="2216" y="2093"/>
                  </a:cubicBezTo>
                  <a:cubicBezTo>
                    <a:pt x="882" y="374"/>
                    <a:pt x="882" y="374"/>
                    <a:pt x="882" y="374"/>
                  </a:cubicBezTo>
                  <a:cubicBezTo>
                    <a:pt x="592" y="0"/>
                    <a:pt x="0" y="316"/>
                    <a:pt x="150" y="766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ea typeface="Adobe 黑体 Std R" panose="020B0400000000000000" pitchFamily="34" charset="-122"/>
              </a:endParaRPr>
            </a:p>
          </p:txBody>
        </p:sp>
        <p:sp>
          <p:nvSpPr>
            <p:cNvPr id="31" name="任意多边形: 形状 30"/>
            <p:cNvSpPr/>
            <p:nvPr/>
          </p:nvSpPr>
          <p:spPr bwMode="auto">
            <a:xfrm>
              <a:off x="4219575" y="3406775"/>
              <a:ext cx="3581400" cy="1704975"/>
            </a:xfrm>
            <a:custGeom>
              <a:avLst/>
              <a:gdLst>
                <a:gd name="T0" fmla="*/ 3153 w 3608"/>
                <a:gd name="T1" fmla="*/ 740 h 1717"/>
                <a:gd name="T2" fmla="*/ 1062 w 3608"/>
                <a:gd name="T3" fmla="*/ 136 h 1717"/>
                <a:gd name="T4" fmla="*/ 55 w 3608"/>
                <a:gd name="T5" fmla="*/ 809 h 1717"/>
                <a:gd name="T6" fmla="*/ 55 w 3608"/>
                <a:gd name="T7" fmla="*/ 809 h 1717"/>
                <a:gd name="T8" fmla="*/ 887 w 3608"/>
                <a:gd name="T9" fmla="*/ 1689 h 1717"/>
                <a:gd name="T10" fmla="*/ 3060 w 3608"/>
                <a:gd name="T11" fmla="*/ 1565 h 1717"/>
                <a:gd name="T12" fmla="*/ 3153 w 3608"/>
                <a:gd name="T13" fmla="*/ 740 h 1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08" h="1717">
                  <a:moveTo>
                    <a:pt x="3153" y="740"/>
                  </a:moveTo>
                  <a:cubicBezTo>
                    <a:pt x="1062" y="136"/>
                    <a:pt x="1062" y="136"/>
                    <a:pt x="1062" y="136"/>
                  </a:cubicBezTo>
                  <a:cubicBezTo>
                    <a:pt x="590" y="0"/>
                    <a:pt x="110" y="321"/>
                    <a:pt x="55" y="809"/>
                  </a:cubicBezTo>
                  <a:cubicBezTo>
                    <a:pt x="55" y="809"/>
                    <a:pt x="55" y="809"/>
                    <a:pt x="55" y="809"/>
                  </a:cubicBezTo>
                  <a:cubicBezTo>
                    <a:pt x="0" y="1297"/>
                    <a:pt x="397" y="1717"/>
                    <a:pt x="887" y="1689"/>
                  </a:cubicBezTo>
                  <a:cubicBezTo>
                    <a:pt x="3060" y="1565"/>
                    <a:pt x="3060" y="1565"/>
                    <a:pt x="3060" y="1565"/>
                  </a:cubicBezTo>
                  <a:cubicBezTo>
                    <a:pt x="3533" y="1538"/>
                    <a:pt x="3608" y="871"/>
                    <a:pt x="3153" y="740"/>
                  </a:cubicBezTo>
                  <a:close/>
                </a:path>
              </a:pathLst>
            </a:custGeom>
            <a:solidFill>
              <a:schemeClr val="bg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2">
                    <a:lumMod val="75000"/>
                  </a:schemeClr>
                </a:solidFill>
                <a:ea typeface="Adobe 黑体 Std R" panose="020B0400000000000000" pitchFamily="34" charset="-122"/>
              </a:endParaRPr>
            </a:p>
          </p:txBody>
        </p:sp>
        <p:sp>
          <p:nvSpPr>
            <p:cNvPr id="32" name="任意多边形: 形状 31"/>
            <p:cNvSpPr/>
            <p:nvPr/>
          </p:nvSpPr>
          <p:spPr bwMode="auto">
            <a:xfrm>
              <a:off x="5718032" y="2105025"/>
              <a:ext cx="755935" cy="402089"/>
            </a:xfrm>
            <a:custGeom>
              <a:avLst/>
              <a:gdLst>
                <a:gd name="T0" fmla="*/ 507 w 515"/>
                <a:gd name="T1" fmla="*/ 273 h 515"/>
                <a:gd name="T2" fmla="*/ 243 w 515"/>
                <a:gd name="T3" fmla="*/ 507 h 515"/>
                <a:gd name="T4" fmla="*/ 8 w 515"/>
                <a:gd name="T5" fmla="*/ 243 h 515"/>
                <a:gd name="T6" fmla="*/ 273 w 515"/>
                <a:gd name="T7" fmla="*/ 8 h 515"/>
                <a:gd name="T8" fmla="*/ 507 w 515"/>
                <a:gd name="T9" fmla="*/ 273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515">
                  <a:moveTo>
                    <a:pt x="507" y="273"/>
                  </a:moveTo>
                  <a:cubicBezTo>
                    <a:pt x="499" y="410"/>
                    <a:pt x="380" y="515"/>
                    <a:pt x="243" y="507"/>
                  </a:cubicBezTo>
                  <a:cubicBezTo>
                    <a:pt x="105" y="499"/>
                    <a:pt x="0" y="380"/>
                    <a:pt x="8" y="243"/>
                  </a:cubicBezTo>
                  <a:cubicBezTo>
                    <a:pt x="17" y="105"/>
                    <a:pt x="135" y="0"/>
                    <a:pt x="273" y="8"/>
                  </a:cubicBezTo>
                  <a:cubicBezTo>
                    <a:pt x="410" y="17"/>
                    <a:pt x="515" y="135"/>
                    <a:pt x="507" y="273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dobe 黑体 Std R" panose="020B0400000000000000" pitchFamily="34" charset="-122"/>
                </a:rPr>
                <a:t>02</a:t>
              </a:r>
              <a:endParaRPr lang="zh-CN" alt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Adobe 黑体 Std R" panose="020B0400000000000000" pitchFamily="34" charset="-122"/>
              </a:endParaRPr>
            </a:p>
          </p:txBody>
        </p:sp>
        <p:sp>
          <p:nvSpPr>
            <p:cNvPr id="33" name="任意多边形: 形状 32"/>
            <p:cNvSpPr/>
            <p:nvPr/>
          </p:nvSpPr>
          <p:spPr bwMode="auto">
            <a:xfrm>
              <a:off x="7010926" y="4274692"/>
              <a:ext cx="692809" cy="341484"/>
            </a:xfrm>
            <a:custGeom>
              <a:avLst/>
              <a:gdLst>
                <a:gd name="T0" fmla="*/ 507 w 515"/>
                <a:gd name="T1" fmla="*/ 272 h 515"/>
                <a:gd name="T2" fmla="*/ 243 w 515"/>
                <a:gd name="T3" fmla="*/ 506 h 515"/>
                <a:gd name="T4" fmla="*/ 9 w 515"/>
                <a:gd name="T5" fmla="*/ 242 h 515"/>
                <a:gd name="T6" fmla="*/ 273 w 515"/>
                <a:gd name="T7" fmla="*/ 8 h 515"/>
                <a:gd name="T8" fmla="*/ 507 w 515"/>
                <a:gd name="T9" fmla="*/ 272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515">
                  <a:moveTo>
                    <a:pt x="507" y="272"/>
                  </a:moveTo>
                  <a:cubicBezTo>
                    <a:pt x="499" y="410"/>
                    <a:pt x="381" y="515"/>
                    <a:pt x="243" y="506"/>
                  </a:cubicBezTo>
                  <a:cubicBezTo>
                    <a:pt x="105" y="498"/>
                    <a:pt x="0" y="380"/>
                    <a:pt x="9" y="242"/>
                  </a:cubicBezTo>
                  <a:cubicBezTo>
                    <a:pt x="17" y="104"/>
                    <a:pt x="135" y="0"/>
                    <a:pt x="273" y="8"/>
                  </a:cubicBezTo>
                  <a:cubicBezTo>
                    <a:pt x="411" y="16"/>
                    <a:pt x="515" y="134"/>
                    <a:pt x="507" y="272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dobe 黑体 Std R" panose="020B0400000000000000" pitchFamily="34" charset="-122"/>
                </a:rPr>
                <a:t>03</a:t>
              </a:r>
              <a:endParaRPr lang="zh-CN" alt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Adobe 黑体 Std R" panose="020B0400000000000000" pitchFamily="34" charset="-122"/>
              </a:endParaRPr>
            </a:p>
          </p:txBody>
        </p:sp>
        <p:sp>
          <p:nvSpPr>
            <p:cNvPr id="35" name="任意多边形: 形状 34"/>
            <p:cNvSpPr/>
            <p:nvPr/>
          </p:nvSpPr>
          <p:spPr bwMode="auto">
            <a:xfrm>
              <a:off x="4224338" y="3490913"/>
              <a:ext cx="1835150" cy="1482725"/>
            </a:xfrm>
            <a:custGeom>
              <a:avLst/>
              <a:gdLst>
                <a:gd name="T0" fmla="*/ 1850 w 1850"/>
                <a:gd name="T1" fmla="*/ 281 h 1494"/>
                <a:gd name="T2" fmla="*/ 1058 w 1850"/>
                <a:gd name="T3" fmla="*/ 52 h 1494"/>
                <a:gd name="T4" fmla="*/ 533 w 1850"/>
                <a:gd name="T5" fmla="*/ 82 h 1494"/>
                <a:gd name="T6" fmla="*/ 223 w 1850"/>
                <a:gd name="T7" fmla="*/ 665 h 1494"/>
                <a:gd name="T8" fmla="*/ 880 w 1850"/>
                <a:gd name="T9" fmla="*/ 1173 h 1494"/>
                <a:gd name="T10" fmla="*/ 1850 w 1850"/>
                <a:gd name="T11" fmla="*/ 281 h 1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0" h="1494">
                  <a:moveTo>
                    <a:pt x="1850" y="281"/>
                  </a:moveTo>
                  <a:cubicBezTo>
                    <a:pt x="1058" y="52"/>
                    <a:pt x="1058" y="52"/>
                    <a:pt x="1058" y="52"/>
                  </a:cubicBezTo>
                  <a:cubicBezTo>
                    <a:pt x="876" y="0"/>
                    <a:pt x="693" y="15"/>
                    <a:pt x="533" y="82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0" y="1084"/>
                    <a:pt x="531" y="1494"/>
                    <a:pt x="880" y="1173"/>
                  </a:cubicBezTo>
                  <a:lnTo>
                    <a:pt x="1850" y="2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ea typeface="Adobe 黑体 Std R" panose="020B0400000000000000" pitchFamily="34" charset="-122"/>
              </a:endParaRPr>
            </a:p>
          </p:txBody>
        </p:sp>
        <p:sp>
          <p:nvSpPr>
            <p:cNvPr id="36" name="任意多边形: 形状 35"/>
            <p:cNvSpPr/>
            <p:nvPr/>
          </p:nvSpPr>
          <p:spPr bwMode="auto">
            <a:xfrm>
              <a:off x="4529138" y="4113213"/>
              <a:ext cx="773112" cy="337377"/>
            </a:xfrm>
            <a:custGeom>
              <a:avLst/>
              <a:gdLst>
                <a:gd name="T0" fmla="*/ 507 w 515"/>
                <a:gd name="T1" fmla="*/ 273 h 516"/>
                <a:gd name="T2" fmla="*/ 243 w 515"/>
                <a:gd name="T3" fmla="*/ 507 h 516"/>
                <a:gd name="T4" fmla="*/ 8 w 515"/>
                <a:gd name="T5" fmla="*/ 243 h 516"/>
                <a:gd name="T6" fmla="*/ 273 w 515"/>
                <a:gd name="T7" fmla="*/ 9 h 516"/>
                <a:gd name="T8" fmla="*/ 507 w 515"/>
                <a:gd name="T9" fmla="*/ 273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516">
                  <a:moveTo>
                    <a:pt x="507" y="273"/>
                  </a:moveTo>
                  <a:cubicBezTo>
                    <a:pt x="499" y="411"/>
                    <a:pt x="380" y="516"/>
                    <a:pt x="243" y="507"/>
                  </a:cubicBezTo>
                  <a:cubicBezTo>
                    <a:pt x="105" y="499"/>
                    <a:pt x="0" y="381"/>
                    <a:pt x="8" y="243"/>
                  </a:cubicBezTo>
                  <a:cubicBezTo>
                    <a:pt x="17" y="105"/>
                    <a:pt x="135" y="0"/>
                    <a:pt x="273" y="9"/>
                  </a:cubicBezTo>
                  <a:cubicBezTo>
                    <a:pt x="410" y="17"/>
                    <a:pt x="515" y="135"/>
                    <a:pt x="507" y="273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b="1" dirty="0">
                  <a:solidFill>
                    <a:schemeClr val="bg2">
                      <a:lumMod val="10000"/>
                    </a:schemeClr>
                  </a:solidFill>
                  <a:latin typeface="Times New Roman" panose="02020603050405020304" pitchFamily="18" charset="0"/>
                  <a:ea typeface="Adobe 黑体 Std R" panose="020B0400000000000000" pitchFamily="34" charset="-122"/>
                </a:rPr>
                <a:t>01</a:t>
              </a:r>
              <a:endParaRPr lang="zh-CN" alt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Adobe 黑体 Std R" panose="020B0400000000000000" pitchFamily="34" charset="-122"/>
              </a:endParaRPr>
            </a:p>
          </p:txBody>
        </p:sp>
        <p:sp>
          <p:nvSpPr>
            <p:cNvPr id="37" name="任意多边形: 形状 36"/>
            <p:cNvSpPr/>
            <p:nvPr/>
          </p:nvSpPr>
          <p:spPr bwMode="auto">
            <a:xfrm>
              <a:off x="4708525" y="3452813"/>
              <a:ext cx="1377950" cy="342900"/>
            </a:xfrm>
            <a:custGeom>
              <a:avLst/>
              <a:gdLst>
                <a:gd name="T0" fmla="*/ 68 w 868"/>
                <a:gd name="T1" fmla="*/ 0 h 216"/>
                <a:gd name="T2" fmla="*/ 0 w 868"/>
                <a:gd name="T3" fmla="*/ 127 h 216"/>
                <a:gd name="T4" fmla="*/ 833 w 868"/>
                <a:gd name="T5" fmla="*/ 216 h 216"/>
                <a:gd name="T6" fmla="*/ 868 w 868"/>
                <a:gd name="T7" fmla="*/ 185 h 216"/>
                <a:gd name="T8" fmla="*/ 611 w 868"/>
                <a:gd name="T9" fmla="*/ 4 h 216"/>
                <a:gd name="T10" fmla="*/ 68 w 868"/>
                <a:gd name="T1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8" h="216">
                  <a:moveTo>
                    <a:pt x="68" y="0"/>
                  </a:moveTo>
                  <a:lnTo>
                    <a:pt x="0" y="127"/>
                  </a:lnTo>
                  <a:lnTo>
                    <a:pt x="833" y="216"/>
                  </a:lnTo>
                  <a:lnTo>
                    <a:pt x="868" y="185"/>
                  </a:lnTo>
                  <a:lnTo>
                    <a:pt x="611" y="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ea typeface="Adobe 黑体 Std R" panose="020B0400000000000000" pitchFamily="34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5424480" y="2999841"/>
              <a:ext cx="1332447" cy="1332447"/>
            </a:xfrm>
            <a:prstGeom prst="ellipse">
              <a:avLst/>
            </a:prstGeom>
            <a:solidFill>
              <a:srgbClr val="FFFFFF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000" b="1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39" name="文本框 65"/>
            <p:cNvSpPr txBox="1"/>
            <p:nvPr/>
          </p:nvSpPr>
          <p:spPr>
            <a:xfrm>
              <a:off x="3864534" y="4981267"/>
              <a:ext cx="2231466" cy="66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思源宋体 CN Heavy"/>
                </a:rPr>
                <a:t>安全性</a:t>
              </a:r>
              <a:endPara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思源宋体 CN Heavy"/>
              </a:endParaRPr>
            </a:p>
          </p:txBody>
        </p:sp>
        <p:sp>
          <p:nvSpPr>
            <p:cNvPr id="40" name="文本框 66"/>
            <p:cNvSpPr txBox="1"/>
            <p:nvPr/>
          </p:nvSpPr>
          <p:spPr>
            <a:xfrm>
              <a:off x="5634832" y="5169726"/>
              <a:ext cx="2653186" cy="66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思源宋体 CN Heavy"/>
                </a:rPr>
                <a:t>可扩展性</a:t>
              </a:r>
              <a:endPara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思源宋体 CN Heavy"/>
              </a:endParaRPr>
            </a:p>
          </p:txBody>
        </p:sp>
        <p:sp>
          <p:nvSpPr>
            <p:cNvPr id="41" name="文本框 67"/>
            <p:cNvSpPr txBox="1"/>
            <p:nvPr/>
          </p:nvSpPr>
          <p:spPr>
            <a:xfrm>
              <a:off x="5132893" y="968608"/>
              <a:ext cx="2404743" cy="66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20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思源宋体 CN Heavy"/>
                </a:rPr>
                <a:t>高效性</a:t>
              </a:r>
              <a:endPara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ea typeface="思源宋体 CN Heavy"/>
              </a:endParaRPr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总结与展望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椭圆 21"/>
          <p:cNvSpPr/>
          <p:nvPr>
            <p:custDataLst>
              <p:tags r:id="rId1"/>
            </p:custDataLst>
          </p:nvPr>
        </p:nvSpPr>
        <p:spPr>
          <a:xfrm>
            <a:off x="292096" y="2084143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>
            <p:custDataLst>
              <p:tags r:id="rId2"/>
            </p:custDataLst>
          </p:nvPr>
        </p:nvSpPr>
        <p:spPr>
          <a:xfrm>
            <a:off x="193675" y="1947171"/>
            <a:ext cx="4684901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710226" y="1947187"/>
            <a:ext cx="4142104" cy="643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汉仪旗黑-50S"/>
                <a:sym typeface="汉仪旗黑-50S"/>
              </a:rPr>
              <a:t>保护用户隐私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汉仪旗黑-50S"/>
              <a:sym typeface="汉仪旗黑-50S"/>
            </a:endParaRPr>
          </a:p>
        </p:txBody>
      </p:sp>
      <p:sp>
        <p:nvSpPr>
          <p:cNvPr id="25" name="椭圆 24"/>
          <p:cNvSpPr/>
          <p:nvPr>
            <p:custDataLst>
              <p:tags r:id="rId4"/>
            </p:custDataLst>
          </p:nvPr>
        </p:nvSpPr>
        <p:spPr>
          <a:xfrm>
            <a:off x="292096" y="3008327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>
            <p:custDataLst>
              <p:tags r:id="rId5"/>
            </p:custDataLst>
          </p:nvPr>
        </p:nvSpPr>
        <p:spPr>
          <a:xfrm>
            <a:off x="193675" y="2871356"/>
            <a:ext cx="4684901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6"/>
            </p:custDataLst>
          </p:nvPr>
        </p:nvSpPr>
        <p:spPr>
          <a:xfrm>
            <a:off x="710226" y="2871388"/>
            <a:ext cx="4142104" cy="6258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汉仪旗黑-50S"/>
                <a:sym typeface="汉仪旗黑-50S"/>
              </a:rPr>
              <a:t>快速检索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汉仪旗黑-50S"/>
              <a:sym typeface="汉仪旗黑-50S"/>
            </a:endParaRPr>
          </a:p>
        </p:txBody>
      </p:sp>
      <p:sp>
        <p:nvSpPr>
          <p:cNvPr id="31" name="椭圆 30"/>
          <p:cNvSpPr/>
          <p:nvPr>
            <p:custDataLst>
              <p:tags r:id="rId7"/>
            </p:custDataLst>
          </p:nvPr>
        </p:nvSpPr>
        <p:spPr>
          <a:xfrm>
            <a:off x="292096" y="3898307"/>
            <a:ext cx="428137" cy="4281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/>
          <p:cNvSpPr/>
          <p:nvPr>
            <p:custDataLst>
              <p:tags r:id="rId8"/>
            </p:custDataLst>
          </p:nvPr>
        </p:nvSpPr>
        <p:spPr>
          <a:xfrm>
            <a:off x="193675" y="3761336"/>
            <a:ext cx="4684901" cy="70207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10226" y="3793689"/>
            <a:ext cx="4142104" cy="593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思源宋体 CN Heavy"/>
                <a:cs typeface="Arial" panose="020B0604020202020204" pitchFamily="34" charset="0"/>
                <a:sym typeface="汉仪旗黑-50S"/>
              </a:rPr>
              <a:t>吞吐量大且并发性强</a:t>
            </a:r>
            <a:endParaRPr lang="zh-CN" altLang="en-US" sz="2000" dirty="0">
              <a:latin typeface="微软雅黑" panose="020B0503020204020204" pitchFamily="34" charset="-122"/>
              <a:ea typeface="思源宋体 CN Heavy"/>
              <a:cs typeface="Arial" panose="020B0604020202020204" pitchFamily="34" charset="0"/>
              <a:sym typeface="汉仪旗黑-50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90606" y="1224366"/>
            <a:ext cx="3524794" cy="37428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193675" y="1014730"/>
            <a:ext cx="4738370" cy="702310"/>
            <a:chOff x="360" y="2057"/>
            <a:chExt cx="7462" cy="1106"/>
          </a:xfrm>
        </p:grpSpPr>
        <p:sp>
          <p:nvSpPr>
            <p:cNvPr id="19" name="椭圆 18"/>
            <p:cNvSpPr/>
            <p:nvPr>
              <p:custDataLst>
                <p:tags r:id="rId11"/>
              </p:custDataLst>
            </p:nvPr>
          </p:nvSpPr>
          <p:spPr>
            <a:xfrm>
              <a:off x="515" y="2273"/>
              <a:ext cx="674" cy="6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: 圆角 19"/>
            <p:cNvSpPr/>
            <p:nvPr>
              <p:custDataLst>
                <p:tags r:id="rId12"/>
              </p:custDataLst>
            </p:nvPr>
          </p:nvSpPr>
          <p:spPr>
            <a:xfrm>
              <a:off x="360" y="2057"/>
              <a:ext cx="7378" cy="110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13"/>
              </p:custDataLst>
            </p:nvPr>
          </p:nvSpPr>
          <p:spPr>
            <a:xfrm>
              <a:off x="1300" y="2057"/>
              <a:ext cx="6523" cy="98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思源宋体 CN Heavy"/>
                  <a:cs typeface="Arial" panose="020B0604020202020204" pitchFamily="34" charset="0"/>
                  <a:sym typeface="汉仪旗黑-50S"/>
                </a:rPr>
                <a:t>实现后量子安全性</a:t>
              </a:r>
              <a:endParaRPr lang="zh-CN" altLang="en-US" sz="2000" dirty="0">
                <a:latin typeface="微软雅黑" panose="020B0503020204020204" pitchFamily="34" charset="-122"/>
                <a:ea typeface="思源宋体 CN Heavy"/>
                <a:cs typeface="Arial" panose="020B0604020202020204" pitchFamily="34" charset="0"/>
                <a:sym typeface="汉仪旗黑-50S"/>
              </a:endParaRPr>
            </a:p>
          </p:txBody>
        </p:sp>
        <p:sp>
          <p:nvSpPr>
            <p:cNvPr id="38" name="Freeform 5"/>
            <p:cNvSpPr/>
            <p:nvPr>
              <p:custDataLst>
                <p:tags r:id="rId14"/>
              </p:custDataLst>
            </p:nvPr>
          </p:nvSpPr>
          <p:spPr bwMode="auto">
            <a:xfrm>
              <a:off x="713" y="2433"/>
              <a:ext cx="279" cy="354"/>
            </a:xfrm>
            <a:custGeom>
              <a:avLst/>
              <a:gdLst>
                <a:gd name="T0" fmla="*/ 613 w 623"/>
                <a:gd name="T1" fmla="*/ 84 h 798"/>
                <a:gd name="T2" fmla="*/ 504 w 623"/>
                <a:gd name="T3" fmla="*/ 10 h 798"/>
                <a:gd name="T4" fmla="*/ 423 w 623"/>
                <a:gd name="T5" fmla="*/ 91 h 798"/>
                <a:gd name="T6" fmla="*/ 224 w 623"/>
                <a:gd name="T7" fmla="*/ 291 h 798"/>
                <a:gd name="T8" fmla="*/ 181 w 623"/>
                <a:gd name="T9" fmla="*/ 283 h 798"/>
                <a:gd name="T10" fmla="*/ 181 w 623"/>
                <a:gd name="T11" fmla="*/ 318 h 798"/>
                <a:gd name="T12" fmla="*/ 132 w 623"/>
                <a:gd name="T13" fmla="*/ 383 h 798"/>
                <a:gd name="T14" fmla="*/ 206 w 623"/>
                <a:gd name="T15" fmla="*/ 492 h 798"/>
                <a:gd name="T16" fmla="*/ 241 w 623"/>
                <a:gd name="T17" fmla="*/ 492 h 798"/>
                <a:gd name="T18" fmla="*/ 305 w 623"/>
                <a:gd name="T19" fmla="*/ 443 h 798"/>
                <a:gd name="T20" fmla="*/ 341 w 623"/>
                <a:gd name="T21" fmla="*/ 408 h 798"/>
                <a:gd name="T22" fmla="*/ 446 w 623"/>
                <a:gd name="T23" fmla="*/ 287 h 798"/>
                <a:gd name="T24" fmla="*/ 496 w 623"/>
                <a:gd name="T25" fmla="*/ 268 h 798"/>
                <a:gd name="T26" fmla="*/ 463 w 623"/>
                <a:gd name="T27" fmla="*/ 550 h 798"/>
                <a:gd name="T28" fmla="*/ 75 w 623"/>
                <a:gd name="T29" fmla="*/ 525 h 798"/>
                <a:gd name="T30" fmla="*/ 75 w 623"/>
                <a:gd name="T31" fmla="*/ 574 h 798"/>
                <a:gd name="T32" fmla="*/ 312 w 623"/>
                <a:gd name="T33" fmla="*/ 574 h 798"/>
                <a:gd name="T34" fmla="*/ 298 w 623"/>
                <a:gd name="T35" fmla="*/ 649 h 798"/>
                <a:gd name="T36" fmla="*/ 0 w 623"/>
                <a:gd name="T37" fmla="*/ 674 h 798"/>
                <a:gd name="T38" fmla="*/ 0 w 623"/>
                <a:gd name="T39" fmla="*/ 773 h 798"/>
                <a:gd name="T40" fmla="*/ 25 w 623"/>
                <a:gd name="T41" fmla="*/ 798 h 798"/>
                <a:gd name="T42" fmla="*/ 596 w 623"/>
                <a:gd name="T43" fmla="*/ 773 h 798"/>
                <a:gd name="T44" fmla="*/ 596 w 623"/>
                <a:gd name="T45" fmla="*/ 674 h 798"/>
                <a:gd name="T46" fmla="*/ 571 w 623"/>
                <a:gd name="T47" fmla="*/ 649 h 798"/>
                <a:gd name="T48" fmla="*/ 497 w 623"/>
                <a:gd name="T49" fmla="*/ 624 h 798"/>
                <a:gd name="T50" fmla="*/ 596 w 623"/>
                <a:gd name="T51" fmla="*/ 395 h 798"/>
                <a:gd name="T52" fmla="*/ 525 w 623"/>
                <a:gd name="T53" fmla="*/ 229 h 798"/>
                <a:gd name="T54" fmla="*/ 613 w 623"/>
                <a:gd name="T55" fmla="*/ 120 h 798"/>
                <a:gd name="T56" fmla="*/ 546 w 623"/>
                <a:gd name="T57" fmla="*/ 748 h 798"/>
                <a:gd name="T58" fmla="*/ 50 w 623"/>
                <a:gd name="T59" fmla="*/ 698 h 798"/>
                <a:gd name="T60" fmla="*/ 348 w 623"/>
                <a:gd name="T61" fmla="*/ 649 h 798"/>
                <a:gd name="T62" fmla="*/ 397 w 623"/>
                <a:gd name="T63" fmla="*/ 574 h 798"/>
                <a:gd name="T64" fmla="*/ 447 w 623"/>
                <a:gd name="T65" fmla="*/ 649 h 798"/>
                <a:gd name="T66" fmla="*/ 522 w 623"/>
                <a:gd name="T67" fmla="*/ 63 h 798"/>
                <a:gd name="T68" fmla="*/ 522 w 623"/>
                <a:gd name="T69" fmla="*/ 141 h 798"/>
                <a:gd name="T70" fmla="*/ 516 w 623"/>
                <a:gd name="T71" fmla="*/ 132 h 798"/>
                <a:gd name="T72" fmla="*/ 488 w 623"/>
                <a:gd name="T73" fmla="*/ 105 h 798"/>
                <a:gd name="T74" fmla="*/ 522 w 623"/>
                <a:gd name="T75" fmla="*/ 63 h 798"/>
                <a:gd name="T76" fmla="*/ 184 w 623"/>
                <a:gd name="T77" fmla="*/ 400 h 798"/>
                <a:gd name="T78" fmla="*/ 263 w 623"/>
                <a:gd name="T79" fmla="*/ 400 h 798"/>
                <a:gd name="T80" fmla="*/ 298 w 623"/>
                <a:gd name="T81" fmla="*/ 365 h 798"/>
                <a:gd name="T82" fmla="*/ 348 w 623"/>
                <a:gd name="T83" fmla="*/ 237 h 798"/>
                <a:gd name="T84" fmla="*/ 354 w 623"/>
                <a:gd name="T85" fmla="*/ 246 h 798"/>
                <a:gd name="T86" fmla="*/ 382 w 623"/>
                <a:gd name="T87" fmla="*/ 273 h 798"/>
                <a:gd name="T88" fmla="*/ 298 w 623"/>
                <a:gd name="T89" fmla="*/ 365 h 798"/>
                <a:gd name="T90" fmla="*/ 385 w 623"/>
                <a:gd name="T91" fmla="*/ 189 h 798"/>
                <a:gd name="T92" fmla="*/ 484 w 623"/>
                <a:gd name="T93" fmla="*/ 189 h 798"/>
                <a:gd name="T94" fmla="*/ 435 w 623"/>
                <a:gd name="T95" fmla="*/ 239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23" h="798">
                  <a:moveTo>
                    <a:pt x="613" y="120"/>
                  </a:moveTo>
                  <a:cubicBezTo>
                    <a:pt x="623" y="110"/>
                    <a:pt x="623" y="94"/>
                    <a:pt x="613" y="84"/>
                  </a:cubicBezTo>
                  <a:cubicBezTo>
                    <a:pt x="539" y="10"/>
                    <a:pt x="539" y="10"/>
                    <a:pt x="539" y="10"/>
                  </a:cubicBezTo>
                  <a:cubicBezTo>
                    <a:pt x="529" y="0"/>
                    <a:pt x="514" y="0"/>
                    <a:pt x="504" y="10"/>
                  </a:cubicBezTo>
                  <a:cubicBezTo>
                    <a:pt x="504" y="10"/>
                    <a:pt x="504" y="10"/>
                    <a:pt x="504" y="10"/>
                  </a:cubicBezTo>
                  <a:cubicBezTo>
                    <a:pt x="423" y="91"/>
                    <a:pt x="423" y="91"/>
                    <a:pt x="423" y="91"/>
                  </a:cubicBezTo>
                  <a:cubicBezTo>
                    <a:pt x="378" y="96"/>
                    <a:pt x="342" y="132"/>
                    <a:pt x="337" y="178"/>
                  </a:cubicBezTo>
                  <a:cubicBezTo>
                    <a:pt x="224" y="291"/>
                    <a:pt x="224" y="291"/>
                    <a:pt x="224" y="291"/>
                  </a:cubicBezTo>
                  <a:cubicBezTo>
                    <a:pt x="216" y="283"/>
                    <a:pt x="216" y="283"/>
                    <a:pt x="216" y="283"/>
                  </a:cubicBezTo>
                  <a:cubicBezTo>
                    <a:pt x="207" y="274"/>
                    <a:pt x="191" y="274"/>
                    <a:pt x="181" y="283"/>
                  </a:cubicBezTo>
                  <a:cubicBezTo>
                    <a:pt x="172" y="293"/>
                    <a:pt x="172" y="309"/>
                    <a:pt x="181" y="318"/>
                  </a:cubicBezTo>
                  <a:cubicBezTo>
                    <a:pt x="181" y="318"/>
                    <a:pt x="181" y="318"/>
                    <a:pt x="181" y="318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32" y="383"/>
                    <a:pt x="132" y="383"/>
                    <a:pt x="132" y="383"/>
                  </a:cubicBezTo>
                  <a:cubicBezTo>
                    <a:pt x="122" y="392"/>
                    <a:pt x="122" y="408"/>
                    <a:pt x="132" y="418"/>
                  </a:cubicBezTo>
                  <a:cubicBezTo>
                    <a:pt x="206" y="492"/>
                    <a:pt x="206" y="492"/>
                    <a:pt x="206" y="492"/>
                  </a:cubicBezTo>
                  <a:cubicBezTo>
                    <a:pt x="216" y="502"/>
                    <a:pt x="232" y="502"/>
                    <a:pt x="241" y="492"/>
                  </a:cubicBezTo>
                  <a:cubicBezTo>
                    <a:pt x="241" y="492"/>
                    <a:pt x="241" y="492"/>
                    <a:pt x="241" y="492"/>
                  </a:cubicBezTo>
                  <a:cubicBezTo>
                    <a:pt x="298" y="435"/>
                    <a:pt x="298" y="435"/>
                    <a:pt x="298" y="435"/>
                  </a:cubicBezTo>
                  <a:cubicBezTo>
                    <a:pt x="305" y="443"/>
                    <a:pt x="305" y="443"/>
                    <a:pt x="305" y="443"/>
                  </a:cubicBezTo>
                  <a:cubicBezTo>
                    <a:pt x="315" y="452"/>
                    <a:pt x="331" y="452"/>
                    <a:pt x="341" y="443"/>
                  </a:cubicBezTo>
                  <a:cubicBezTo>
                    <a:pt x="350" y="433"/>
                    <a:pt x="350" y="417"/>
                    <a:pt x="341" y="408"/>
                  </a:cubicBezTo>
                  <a:cubicBezTo>
                    <a:pt x="333" y="400"/>
                    <a:pt x="333" y="400"/>
                    <a:pt x="333" y="400"/>
                  </a:cubicBezTo>
                  <a:cubicBezTo>
                    <a:pt x="446" y="287"/>
                    <a:pt x="446" y="287"/>
                    <a:pt x="446" y="287"/>
                  </a:cubicBezTo>
                  <a:cubicBezTo>
                    <a:pt x="464" y="285"/>
                    <a:pt x="481" y="278"/>
                    <a:pt x="495" y="267"/>
                  </a:cubicBezTo>
                  <a:cubicBezTo>
                    <a:pt x="496" y="267"/>
                    <a:pt x="496" y="268"/>
                    <a:pt x="496" y="268"/>
                  </a:cubicBezTo>
                  <a:cubicBezTo>
                    <a:pt x="528" y="302"/>
                    <a:pt x="546" y="348"/>
                    <a:pt x="546" y="395"/>
                  </a:cubicBezTo>
                  <a:cubicBezTo>
                    <a:pt x="546" y="457"/>
                    <a:pt x="515" y="514"/>
                    <a:pt x="463" y="550"/>
                  </a:cubicBezTo>
                  <a:cubicBezTo>
                    <a:pt x="445" y="534"/>
                    <a:pt x="422" y="525"/>
                    <a:pt x="397" y="525"/>
                  </a:cubicBezTo>
                  <a:cubicBezTo>
                    <a:pt x="75" y="525"/>
                    <a:pt x="75" y="525"/>
                    <a:pt x="75" y="525"/>
                  </a:cubicBezTo>
                  <a:cubicBezTo>
                    <a:pt x="61" y="525"/>
                    <a:pt x="50" y="536"/>
                    <a:pt x="50" y="549"/>
                  </a:cubicBezTo>
                  <a:cubicBezTo>
                    <a:pt x="50" y="563"/>
                    <a:pt x="61" y="574"/>
                    <a:pt x="75" y="574"/>
                  </a:cubicBezTo>
                  <a:cubicBezTo>
                    <a:pt x="75" y="574"/>
                    <a:pt x="75" y="574"/>
                    <a:pt x="75" y="574"/>
                  </a:cubicBezTo>
                  <a:cubicBezTo>
                    <a:pt x="312" y="574"/>
                    <a:pt x="312" y="574"/>
                    <a:pt x="312" y="574"/>
                  </a:cubicBezTo>
                  <a:cubicBezTo>
                    <a:pt x="303" y="589"/>
                    <a:pt x="298" y="606"/>
                    <a:pt x="298" y="624"/>
                  </a:cubicBezTo>
                  <a:cubicBezTo>
                    <a:pt x="298" y="649"/>
                    <a:pt x="298" y="649"/>
                    <a:pt x="298" y="649"/>
                  </a:cubicBezTo>
                  <a:cubicBezTo>
                    <a:pt x="25" y="649"/>
                    <a:pt x="25" y="649"/>
                    <a:pt x="25" y="649"/>
                  </a:cubicBezTo>
                  <a:cubicBezTo>
                    <a:pt x="12" y="649"/>
                    <a:pt x="0" y="660"/>
                    <a:pt x="0" y="674"/>
                  </a:cubicBezTo>
                  <a:cubicBezTo>
                    <a:pt x="0" y="674"/>
                    <a:pt x="0" y="674"/>
                    <a:pt x="0" y="674"/>
                  </a:cubicBezTo>
                  <a:cubicBezTo>
                    <a:pt x="0" y="773"/>
                    <a:pt x="0" y="773"/>
                    <a:pt x="0" y="773"/>
                  </a:cubicBezTo>
                  <a:cubicBezTo>
                    <a:pt x="0" y="787"/>
                    <a:pt x="12" y="798"/>
                    <a:pt x="25" y="798"/>
                  </a:cubicBezTo>
                  <a:cubicBezTo>
                    <a:pt x="25" y="798"/>
                    <a:pt x="25" y="798"/>
                    <a:pt x="25" y="798"/>
                  </a:cubicBezTo>
                  <a:cubicBezTo>
                    <a:pt x="571" y="798"/>
                    <a:pt x="571" y="798"/>
                    <a:pt x="571" y="798"/>
                  </a:cubicBezTo>
                  <a:cubicBezTo>
                    <a:pt x="585" y="798"/>
                    <a:pt x="596" y="787"/>
                    <a:pt x="596" y="773"/>
                  </a:cubicBezTo>
                  <a:cubicBezTo>
                    <a:pt x="596" y="773"/>
                    <a:pt x="596" y="773"/>
                    <a:pt x="596" y="773"/>
                  </a:cubicBezTo>
                  <a:cubicBezTo>
                    <a:pt x="596" y="674"/>
                    <a:pt x="596" y="674"/>
                    <a:pt x="596" y="674"/>
                  </a:cubicBezTo>
                  <a:cubicBezTo>
                    <a:pt x="596" y="660"/>
                    <a:pt x="585" y="649"/>
                    <a:pt x="571" y="649"/>
                  </a:cubicBezTo>
                  <a:cubicBezTo>
                    <a:pt x="571" y="649"/>
                    <a:pt x="571" y="649"/>
                    <a:pt x="571" y="649"/>
                  </a:cubicBezTo>
                  <a:cubicBezTo>
                    <a:pt x="497" y="649"/>
                    <a:pt x="497" y="649"/>
                    <a:pt x="497" y="649"/>
                  </a:cubicBezTo>
                  <a:cubicBezTo>
                    <a:pt x="497" y="624"/>
                    <a:pt x="497" y="624"/>
                    <a:pt x="497" y="624"/>
                  </a:cubicBezTo>
                  <a:cubicBezTo>
                    <a:pt x="497" y="613"/>
                    <a:pt x="495" y="602"/>
                    <a:pt x="491" y="591"/>
                  </a:cubicBezTo>
                  <a:cubicBezTo>
                    <a:pt x="557" y="546"/>
                    <a:pt x="596" y="473"/>
                    <a:pt x="596" y="395"/>
                  </a:cubicBezTo>
                  <a:cubicBezTo>
                    <a:pt x="596" y="335"/>
                    <a:pt x="573" y="278"/>
                    <a:pt x="532" y="234"/>
                  </a:cubicBezTo>
                  <a:cubicBezTo>
                    <a:pt x="530" y="232"/>
                    <a:pt x="528" y="230"/>
                    <a:pt x="525" y="229"/>
                  </a:cubicBezTo>
                  <a:cubicBezTo>
                    <a:pt x="529" y="220"/>
                    <a:pt x="532" y="210"/>
                    <a:pt x="533" y="200"/>
                  </a:cubicBezTo>
                  <a:lnTo>
                    <a:pt x="613" y="120"/>
                  </a:lnTo>
                  <a:close/>
                  <a:moveTo>
                    <a:pt x="546" y="698"/>
                  </a:moveTo>
                  <a:cubicBezTo>
                    <a:pt x="546" y="748"/>
                    <a:pt x="546" y="748"/>
                    <a:pt x="546" y="748"/>
                  </a:cubicBezTo>
                  <a:cubicBezTo>
                    <a:pt x="50" y="748"/>
                    <a:pt x="50" y="748"/>
                    <a:pt x="50" y="748"/>
                  </a:cubicBezTo>
                  <a:cubicBezTo>
                    <a:pt x="50" y="698"/>
                    <a:pt x="50" y="698"/>
                    <a:pt x="50" y="698"/>
                  </a:cubicBezTo>
                  <a:lnTo>
                    <a:pt x="546" y="698"/>
                  </a:lnTo>
                  <a:close/>
                  <a:moveTo>
                    <a:pt x="348" y="649"/>
                  </a:moveTo>
                  <a:cubicBezTo>
                    <a:pt x="348" y="624"/>
                    <a:pt x="348" y="624"/>
                    <a:pt x="348" y="624"/>
                  </a:cubicBezTo>
                  <a:cubicBezTo>
                    <a:pt x="348" y="597"/>
                    <a:pt x="370" y="574"/>
                    <a:pt x="397" y="574"/>
                  </a:cubicBezTo>
                  <a:cubicBezTo>
                    <a:pt x="425" y="574"/>
                    <a:pt x="447" y="597"/>
                    <a:pt x="447" y="624"/>
                  </a:cubicBezTo>
                  <a:cubicBezTo>
                    <a:pt x="447" y="649"/>
                    <a:pt x="447" y="649"/>
                    <a:pt x="447" y="649"/>
                  </a:cubicBezTo>
                  <a:lnTo>
                    <a:pt x="348" y="649"/>
                  </a:lnTo>
                  <a:close/>
                  <a:moveTo>
                    <a:pt x="522" y="63"/>
                  </a:moveTo>
                  <a:cubicBezTo>
                    <a:pt x="561" y="102"/>
                    <a:pt x="561" y="102"/>
                    <a:pt x="561" y="102"/>
                  </a:cubicBezTo>
                  <a:cubicBezTo>
                    <a:pt x="522" y="141"/>
                    <a:pt x="522" y="141"/>
                    <a:pt x="522" y="141"/>
                  </a:cubicBezTo>
                  <a:cubicBezTo>
                    <a:pt x="521" y="139"/>
                    <a:pt x="519" y="138"/>
                    <a:pt x="518" y="136"/>
                  </a:cubicBezTo>
                  <a:cubicBezTo>
                    <a:pt x="517" y="135"/>
                    <a:pt x="517" y="133"/>
                    <a:pt x="516" y="132"/>
                  </a:cubicBezTo>
                  <a:cubicBezTo>
                    <a:pt x="509" y="123"/>
                    <a:pt x="501" y="114"/>
                    <a:pt x="492" y="108"/>
                  </a:cubicBezTo>
                  <a:cubicBezTo>
                    <a:pt x="490" y="107"/>
                    <a:pt x="489" y="106"/>
                    <a:pt x="488" y="105"/>
                  </a:cubicBezTo>
                  <a:cubicBezTo>
                    <a:pt x="486" y="104"/>
                    <a:pt x="484" y="103"/>
                    <a:pt x="482" y="102"/>
                  </a:cubicBezTo>
                  <a:lnTo>
                    <a:pt x="522" y="63"/>
                  </a:lnTo>
                  <a:close/>
                  <a:moveTo>
                    <a:pt x="224" y="440"/>
                  </a:moveTo>
                  <a:cubicBezTo>
                    <a:pt x="184" y="400"/>
                    <a:pt x="184" y="400"/>
                    <a:pt x="184" y="400"/>
                  </a:cubicBezTo>
                  <a:cubicBezTo>
                    <a:pt x="224" y="361"/>
                    <a:pt x="224" y="361"/>
                    <a:pt x="224" y="361"/>
                  </a:cubicBezTo>
                  <a:cubicBezTo>
                    <a:pt x="263" y="400"/>
                    <a:pt x="263" y="400"/>
                    <a:pt x="263" y="400"/>
                  </a:cubicBezTo>
                  <a:lnTo>
                    <a:pt x="224" y="440"/>
                  </a:lnTo>
                  <a:close/>
                  <a:moveTo>
                    <a:pt x="298" y="365"/>
                  </a:moveTo>
                  <a:cubicBezTo>
                    <a:pt x="259" y="326"/>
                    <a:pt x="259" y="326"/>
                    <a:pt x="259" y="326"/>
                  </a:cubicBezTo>
                  <a:cubicBezTo>
                    <a:pt x="348" y="237"/>
                    <a:pt x="348" y="237"/>
                    <a:pt x="348" y="237"/>
                  </a:cubicBezTo>
                  <a:cubicBezTo>
                    <a:pt x="349" y="239"/>
                    <a:pt x="350" y="240"/>
                    <a:pt x="351" y="242"/>
                  </a:cubicBezTo>
                  <a:cubicBezTo>
                    <a:pt x="352" y="243"/>
                    <a:pt x="353" y="245"/>
                    <a:pt x="354" y="246"/>
                  </a:cubicBezTo>
                  <a:cubicBezTo>
                    <a:pt x="360" y="255"/>
                    <a:pt x="368" y="264"/>
                    <a:pt x="378" y="270"/>
                  </a:cubicBezTo>
                  <a:cubicBezTo>
                    <a:pt x="379" y="271"/>
                    <a:pt x="380" y="272"/>
                    <a:pt x="382" y="273"/>
                  </a:cubicBezTo>
                  <a:cubicBezTo>
                    <a:pt x="384" y="274"/>
                    <a:pt x="385" y="275"/>
                    <a:pt x="387" y="276"/>
                  </a:cubicBezTo>
                  <a:lnTo>
                    <a:pt x="298" y="365"/>
                  </a:lnTo>
                  <a:close/>
                  <a:moveTo>
                    <a:pt x="435" y="239"/>
                  </a:moveTo>
                  <a:cubicBezTo>
                    <a:pt x="407" y="239"/>
                    <a:pt x="385" y="217"/>
                    <a:pt x="385" y="189"/>
                  </a:cubicBezTo>
                  <a:cubicBezTo>
                    <a:pt x="385" y="162"/>
                    <a:pt x="407" y="139"/>
                    <a:pt x="435" y="139"/>
                  </a:cubicBezTo>
                  <a:cubicBezTo>
                    <a:pt x="462" y="139"/>
                    <a:pt x="484" y="161"/>
                    <a:pt x="484" y="189"/>
                  </a:cubicBezTo>
                  <a:cubicBezTo>
                    <a:pt x="484" y="189"/>
                    <a:pt x="484" y="189"/>
                    <a:pt x="484" y="189"/>
                  </a:cubicBezTo>
                  <a:cubicBezTo>
                    <a:pt x="484" y="216"/>
                    <a:pt x="462" y="239"/>
                    <a:pt x="435" y="2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Freeform 9"/>
          <p:cNvSpPr/>
          <p:nvPr>
            <p:custDataLst>
              <p:tags r:id="rId15"/>
            </p:custDataLst>
          </p:nvPr>
        </p:nvSpPr>
        <p:spPr bwMode="auto">
          <a:xfrm>
            <a:off x="406418" y="3122957"/>
            <a:ext cx="199493" cy="198877"/>
          </a:xfrm>
          <a:custGeom>
            <a:avLst/>
            <a:gdLst>
              <a:gd name="T0" fmla="*/ 623 w 797"/>
              <a:gd name="T1" fmla="*/ 324 h 797"/>
              <a:gd name="T2" fmla="*/ 672 w 797"/>
              <a:gd name="T3" fmla="*/ 373 h 797"/>
              <a:gd name="T4" fmla="*/ 423 w 797"/>
              <a:gd name="T5" fmla="*/ 324 h 797"/>
              <a:gd name="T6" fmla="*/ 374 w 797"/>
              <a:gd name="T7" fmla="*/ 373 h 797"/>
              <a:gd name="T8" fmla="*/ 423 w 797"/>
              <a:gd name="T9" fmla="*/ 324 h 797"/>
              <a:gd name="T10" fmla="*/ 125 w 797"/>
              <a:gd name="T11" fmla="*/ 324 h 797"/>
              <a:gd name="T12" fmla="*/ 174 w 797"/>
              <a:gd name="T13" fmla="*/ 373 h 797"/>
              <a:gd name="T14" fmla="*/ 747 w 797"/>
              <a:gd name="T15" fmla="*/ 249 h 797"/>
              <a:gd name="T16" fmla="*/ 722 w 797"/>
              <a:gd name="T17" fmla="*/ 0 h 797"/>
              <a:gd name="T18" fmla="*/ 573 w 797"/>
              <a:gd name="T19" fmla="*/ 0 h 797"/>
              <a:gd name="T20" fmla="*/ 548 w 797"/>
              <a:gd name="T21" fmla="*/ 25 h 797"/>
              <a:gd name="T22" fmla="*/ 498 w 797"/>
              <a:gd name="T23" fmla="*/ 249 h 797"/>
              <a:gd name="T24" fmla="*/ 473 w 797"/>
              <a:gd name="T25" fmla="*/ 0 h 797"/>
              <a:gd name="T26" fmla="*/ 324 w 797"/>
              <a:gd name="T27" fmla="*/ 0 h 797"/>
              <a:gd name="T28" fmla="*/ 299 w 797"/>
              <a:gd name="T29" fmla="*/ 25 h 797"/>
              <a:gd name="T30" fmla="*/ 249 w 797"/>
              <a:gd name="T31" fmla="*/ 249 h 797"/>
              <a:gd name="T32" fmla="*/ 224 w 797"/>
              <a:gd name="T33" fmla="*/ 0 h 797"/>
              <a:gd name="T34" fmla="*/ 75 w 797"/>
              <a:gd name="T35" fmla="*/ 0 h 797"/>
              <a:gd name="T36" fmla="*/ 50 w 797"/>
              <a:gd name="T37" fmla="*/ 25 h 797"/>
              <a:gd name="T38" fmla="*/ 0 w 797"/>
              <a:gd name="T39" fmla="*/ 299 h 797"/>
              <a:gd name="T40" fmla="*/ 50 w 797"/>
              <a:gd name="T41" fmla="*/ 448 h 797"/>
              <a:gd name="T42" fmla="*/ 149 w 797"/>
              <a:gd name="T43" fmla="*/ 797 h 797"/>
              <a:gd name="T44" fmla="*/ 249 w 797"/>
              <a:gd name="T45" fmla="*/ 448 h 797"/>
              <a:gd name="T46" fmla="*/ 299 w 797"/>
              <a:gd name="T47" fmla="*/ 697 h 797"/>
              <a:gd name="T48" fmla="*/ 498 w 797"/>
              <a:gd name="T49" fmla="*/ 697 h 797"/>
              <a:gd name="T50" fmla="*/ 548 w 797"/>
              <a:gd name="T51" fmla="*/ 448 h 797"/>
              <a:gd name="T52" fmla="*/ 647 w 797"/>
              <a:gd name="T53" fmla="*/ 797 h 797"/>
              <a:gd name="T54" fmla="*/ 747 w 797"/>
              <a:gd name="T55" fmla="*/ 448 h 797"/>
              <a:gd name="T56" fmla="*/ 797 w 797"/>
              <a:gd name="T57" fmla="*/ 299 h 797"/>
              <a:gd name="T58" fmla="*/ 598 w 797"/>
              <a:gd name="T59" fmla="*/ 50 h 797"/>
              <a:gd name="T60" fmla="*/ 697 w 797"/>
              <a:gd name="T61" fmla="*/ 99 h 797"/>
              <a:gd name="T62" fmla="*/ 598 w 797"/>
              <a:gd name="T63" fmla="*/ 50 h 797"/>
              <a:gd name="T64" fmla="*/ 697 w 797"/>
              <a:gd name="T65" fmla="*/ 149 h 797"/>
              <a:gd name="T66" fmla="*/ 598 w 797"/>
              <a:gd name="T67" fmla="*/ 249 h 797"/>
              <a:gd name="T68" fmla="*/ 349 w 797"/>
              <a:gd name="T69" fmla="*/ 50 h 797"/>
              <a:gd name="T70" fmla="*/ 448 w 797"/>
              <a:gd name="T71" fmla="*/ 99 h 797"/>
              <a:gd name="T72" fmla="*/ 349 w 797"/>
              <a:gd name="T73" fmla="*/ 50 h 797"/>
              <a:gd name="T74" fmla="*/ 448 w 797"/>
              <a:gd name="T75" fmla="*/ 149 h 797"/>
              <a:gd name="T76" fmla="*/ 349 w 797"/>
              <a:gd name="T77" fmla="*/ 249 h 797"/>
              <a:gd name="T78" fmla="*/ 100 w 797"/>
              <a:gd name="T79" fmla="*/ 50 h 797"/>
              <a:gd name="T80" fmla="*/ 199 w 797"/>
              <a:gd name="T81" fmla="*/ 99 h 797"/>
              <a:gd name="T82" fmla="*/ 100 w 797"/>
              <a:gd name="T83" fmla="*/ 50 h 797"/>
              <a:gd name="T84" fmla="*/ 199 w 797"/>
              <a:gd name="T85" fmla="*/ 149 h 797"/>
              <a:gd name="T86" fmla="*/ 100 w 797"/>
              <a:gd name="T87" fmla="*/ 249 h 797"/>
              <a:gd name="T88" fmla="*/ 199 w 797"/>
              <a:gd name="T89" fmla="*/ 697 h 797"/>
              <a:gd name="T90" fmla="*/ 100 w 797"/>
              <a:gd name="T91" fmla="*/ 697 h 797"/>
              <a:gd name="T92" fmla="*/ 199 w 797"/>
              <a:gd name="T93" fmla="*/ 448 h 797"/>
              <a:gd name="T94" fmla="*/ 448 w 797"/>
              <a:gd name="T95" fmla="*/ 697 h 797"/>
              <a:gd name="T96" fmla="*/ 349 w 797"/>
              <a:gd name="T97" fmla="*/ 697 h 797"/>
              <a:gd name="T98" fmla="*/ 448 w 797"/>
              <a:gd name="T99" fmla="*/ 448 h 797"/>
              <a:gd name="T100" fmla="*/ 697 w 797"/>
              <a:gd name="T101" fmla="*/ 697 h 797"/>
              <a:gd name="T102" fmla="*/ 598 w 797"/>
              <a:gd name="T103" fmla="*/ 697 h 797"/>
              <a:gd name="T104" fmla="*/ 697 w 797"/>
              <a:gd name="T105" fmla="*/ 448 h 797"/>
              <a:gd name="T106" fmla="*/ 747 w 797"/>
              <a:gd name="T107" fmla="*/ 398 h 797"/>
              <a:gd name="T108" fmla="*/ 50 w 797"/>
              <a:gd name="T109" fmla="*/ 299 h 797"/>
              <a:gd name="T110" fmla="*/ 747 w 797"/>
              <a:gd name="T111" fmla="*/ 398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97" h="797">
                <a:moveTo>
                  <a:pt x="672" y="324"/>
                </a:moveTo>
                <a:cubicBezTo>
                  <a:pt x="623" y="324"/>
                  <a:pt x="623" y="324"/>
                  <a:pt x="623" y="324"/>
                </a:cubicBezTo>
                <a:cubicBezTo>
                  <a:pt x="623" y="373"/>
                  <a:pt x="623" y="373"/>
                  <a:pt x="623" y="373"/>
                </a:cubicBezTo>
                <a:cubicBezTo>
                  <a:pt x="672" y="373"/>
                  <a:pt x="672" y="373"/>
                  <a:pt x="672" y="373"/>
                </a:cubicBezTo>
                <a:lnTo>
                  <a:pt x="672" y="324"/>
                </a:lnTo>
                <a:close/>
                <a:moveTo>
                  <a:pt x="423" y="324"/>
                </a:moveTo>
                <a:cubicBezTo>
                  <a:pt x="374" y="324"/>
                  <a:pt x="374" y="324"/>
                  <a:pt x="374" y="324"/>
                </a:cubicBezTo>
                <a:cubicBezTo>
                  <a:pt x="374" y="373"/>
                  <a:pt x="374" y="373"/>
                  <a:pt x="374" y="373"/>
                </a:cubicBezTo>
                <a:cubicBezTo>
                  <a:pt x="423" y="373"/>
                  <a:pt x="423" y="373"/>
                  <a:pt x="423" y="373"/>
                </a:cubicBezTo>
                <a:lnTo>
                  <a:pt x="423" y="324"/>
                </a:lnTo>
                <a:close/>
                <a:moveTo>
                  <a:pt x="174" y="324"/>
                </a:moveTo>
                <a:cubicBezTo>
                  <a:pt x="125" y="324"/>
                  <a:pt x="125" y="324"/>
                  <a:pt x="125" y="324"/>
                </a:cubicBezTo>
                <a:cubicBezTo>
                  <a:pt x="125" y="373"/>
                  <a:pt x="125" y="373"/>
                  <a:pt x="125" y="373"/>
                </a:cubicBezTo>
                <a:cubicBezTo>
                  <a:pt x="174" y="373"/>
                  <a:pt x="174" y="373"/>
                  <a:pt x="174" y="373"/>
                </a:cubicBezTo>
                <a:lnTo>
                  <a:pt x="174" y="324"/>
                </a:lnTo>
                <a:close/>
                <a:moveTo>
                  <a:pt x="747" y="249"/>
                </a:moveTo>
                <a:cubicBezTo>
                  <a:pt x="747" y="25"/>
                  <a:pt x="747" y="25"/>
                  <a:pt x="747" y="25"/>
                </a:cubicBezTo>
                <a:cubicBezTo>
                  <a:pt x="747" y="11"/>
                  <a:pt x="736" y="0"/>
                  <a:pt x="722" y="0"/>
                </a:cubicBezTo>
                <a:cubicBezTo>
                  <a:pt x="722" y="0"/>
                  <a:pt x="722" y="0"/>
                  <a:pt x="722" y="0"/>
                </a:cubicBezTo>
                <a:cubicBezTo>
                  <a:pt x="573" y="0"/>
                  <a:pt x="573" y="0"/>
                  <a:pt x="573" y="0"/>
                </a:cubicBezTo>
                <a:cubicBezTo>
                  <a:pt x="559" y="0"/>
                  <a:pt x="548" y="11"/>
                  <a:pt x="548" y="25"/>
                </a:cubicBezTo>
                <a:cubicBezTo>
                  <a:pt x="548" y="25"/>
                  <a:pt x="548" y="25"/>
                  <a:pt x="548" y="25"/>
                </a:cubicBezTo>
                <a:cubicBezTo>
                  <a:pt x="548" y="249"/>
                  <a:pt x="548" y="249"/>
                  <a:pt x="548" y="249"/>
                </a:cubicBezTo>
                <a:cubicBezTo>
                  <a:pt x="498" y="249"/>
                  <a:pt x="498" y="249"/>
                  <a:pt x="498" y="249"/>
                </a:cubicBezTo>
                <a:cubicBezTo>
                  <a:pt x="498" y="25"/>
                  <a:pt x="498" y="25"/>
                  <a:pt x="498" y="25"/>
                </a:cubicBezTo>
                <a:cubicBezTo>
                  <a:pt x="498" y="11"/>
                  <a:pt x="487" y="0"/>
                  <a:pt x="473" y="0"/>
                </a:cubicBezTo>
                <a:cubicBezTo>
                  <a:pt x="473" y="0"/>
                  <a:pt x="473" y="0"/>
                  <a:pt x="473" y="0"/>
                </a:cubicBezTo>
                <a:cubicBezTo>
                  <a:pt x="324" y="0"/>
                  <a:pt x="324" y="0"/>
                  <a:pt x="324" y="0"/>
                </a:cubicBezTo>
                <a:cubicBezTo>
                  <a:pt x="310" y="0"/>
                  <a:pt x="299" y="11"/>
                  <a:pt x="299" y="25"/>
                </a:cubicBezTo>
                <a:cubicBezTo>
                  <a:pt x="299" y="25"/>
                  <a:pt x="299" y="25"/>
                  <a:pt x="299" y="25"/>
                </a:cubicBezTo>
                <a:cubicBezTo>
                  <a:pt x="299" y="249"/>
                  <a:pt x="299" y="249"/>
                  <a:pt x="299" y="249"/>
                </a:cubicBezTo>
                <a:cubicBezTo>
                  <a:pt x="249" y="249"/>
                  <a:pt x="249" y="249"/>
                  <a:pt x="249" y="249"/>
                </a:cubicBezTo>
                <a:cubicBezTo>
                  <a:pt x="249" y="25"/>
                  <a:pt x="249" y="25"/>
                  <a:pt x="249" y="25"/>
                </a:cubicBezTo>
                <a:cubicBezTo>
                  <a:pt x="249" y="11"/>
                  <a:pt x="238" y="0"/>
                  <a:pt x="224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61" y="0"/>
                  <a:pt x="50" y="11"/>
                  <a:pt x="50" y="25"/>
                </a:cubicBezTo>
                <a:cubicBezTo>
                  <a:pt x="50" y="25"/>
                  <a:pt x="50" y="25"/>
                  <a:pt x="50" y="25"/>
                </a:cubicBezTo>
                <a:cubicBezTo>
                  <a:pt x="50" y="249"/>
                  <a:pt x="50" y="249"/>
                  <a:pt x="50" y="249"/>
                </a:cubicBezTo>
                <a:cubicBezTo>
                  <a:pt x="22" y="249"/>
                  <a:pt x="0" y="271"/>
                  <a:pt x="0" y="299"/>
                </a:cubicBezTo>
                <a:cubicBezTo>
                  <a:pt x="0" y="398"/>
                  <a:pt x="0" y="398"/>
                  <a:pt x="0" y="398"/>
                </a:cubicBezTo>
                <a:cubicBezTo>
                  <a:pt x="0" y="426"/>
                  <a:pt x="22" y="448"/>
                  <a:pt x="50" y="448"/>
                </a:cubicBezTo>
                <a:cubicBezTo>
                  <a:pt x="50" y="697"/>
                  <a:pt x="50" y="697"/>
                  <a:pt x="50" y="697"/>
                </a:cubicBezTo>
                <a:cubicBezTo>
                  <a:pt x="50" y="752"/>
                  <a:pt x="94" y="797"/>
                  <a:pt x="149" y="797"/>
                </a:cubicBezTo>
                <a:cubicBezTo>
                  <a:pt x="204" y="797"/>
                  <a:pt x="249" y="752"/>
                  <a:pt x="249" y="697"/>
                </a:cubicBezTo>
                <a:cubicBezTo>
                  <a:pt x="249" y="448"/>
                  <a:pt x="249" y="448"/>
                  <a:pt x="249" y="448"/>
                </a:cubicBezTo>
                <a:cubicBezTo>
                  <a:pt x="299" y="448"/>
                  <a:pt x="299" y="448"/>
                  <a:pt x="299" y="448"/>
                </a:cubicBezTo>
                <a:cubicBezTo>
                  <a:pt x="299" y="697"/>
                  <a:pt x="299" y="697"/>
                  <a:pt x="299" y="697"/>
                </a:cubicBezTo>
                <a:cubicBezTo>
                  <a:pt x="299" y="752"/>
                  <a:pt x="343" y="797"/>
                  <a:pt x="398" y="797"/>
                </a:cubicBezTo>
                <a:cubicBezTo>
                  <a:pt x="453" y="797"/>
                  <a:pt x="498" y="752"/>
                  <a:pt x="498" y="697"/>
                </a:cubicBezTo>
                <a:cubicBezTo>
                  <a:pt x="498" y="448"/>
                  <a:pt x="498" y="448"/>
                  <a:pt x="498" y="448"/>
                </a:cubicBezTo>
                <a:cubicBezTo>
                  <a:pt x="548" y="448"/>
                  <a:pt x="548" y="448"/>
                  <a:pt x="548" y="448"/>
                </a:cubicBezTo>
                <a:cubicBezTo>
                  <a:pt x="548" y="697"/>
                  <a:pt x="548" y="697"/>
                  <a:pt x="548" y="697"/>
                </a:cubicBezTo>
                <a:cubicBezTo>
                  <a:pt x="548" y="752"/>
                  <a:pt x="592" y="797"/>
                  <a:pt x="647" y="797"/>
                </a:cubicBezTo>
                <a:cubicBezTo>
                  <a:pt x="702" y="797"/>
                  <a:pt x="747" y="752"/>
                  <a:pt x="747" y="697"/>
                </a:cubicBezTo>
                <a:cubicBezTo>
                  <a:pt x="747" y="448"/>
                  <a:pt x="747" y="448"/>
                  <a:pt x="747" y="448"/>
                </a:cubicBezTo>
                <a:cubicBezTo>
                  <a:pt x="775" y="448"/>
                  <a:pt x="797" y="426"/>
                  <a:pt x="797" y="398"/>
                </a:cubicBezTo>
                <a:cubicBezTo>
                  <a:pt x="797" y="299"/>
                  <a:pt x="797" y="299"/>
                  <a:pt x="797" y="299"/>
                </a:cubicBezTo>
                <a:cubicBezTo>
                  <a:pt x="797" y="271"/>
                  <a:pt x="775" y="249"/>
                  <a:pt x="747" y="249"/>
                </a:cubicBezTo>
                <a:close/>
                <a:moveTo>
                  <a:pt x="598" y="50"/>
                </a:moveTo>
                <a:cubicBezTo>
                  <a:pt x="697" y="50"/>
                  <a:pt x="697" y="50"/>
                  <a:pt x="697" y="50"/>
                </a:cubicBezTo>
                <a:cubicBezTo>
                  <a:pt x="697" y="99"/>
                  <a:pt x="697" y="99"/>
                  <a:pt x="697" y="99"/>
                </a:cubicBezTo>
                <a:cubicBezTo>
                  <a:pt x="598" y="99"/>
                  <a:pt x="598" y="99"/>
                  <a:pt x="598" y="99"/>
                </a:cubicBezTo>
                <a:lnTo>
                  <a:pt x="598" y="50"/>
                </a:lnTo>
                <a:close/>
                <a:moveTo>
                  <a:pt x="598" y="149"/>
                </a:moveTo>
                <a:cubicBezTo>
                  <a:pt x="697" y="149"/>
                  <a:pt x="697" y="149"/>
                  <a:pt x="697" y="149"/>
                </a:cubicBezTo>
                <a:cubicBezTo>
                  <a:pt x="697" y="249"/>
                  <a:pt x="697" y="249"/>
                  <a:pt x="697" y="249"/>
                </a:cubicBezTo>
                <a:cubicBezTo>
                  <a:pt x="598" y="249"/>
                  <a:pt x="598" y="249"/>
                  <a:pt x="598" y="249"/>
                </a:cubicBezTo>
                <a:lnTo>
                  <a:pt x="598" y="149"/>
                </a:lnTo>
                <a:close/>
                <a:moveTo>
                  <a:pt x="349" y="50"/>
                </a:moveTo>
                <a:cubicBezTo>
                  <a:pt x="448" y="50"/>
                  <a:pt x="448" y="50"/>
                  <a:pt x="448" y="50"/>
                </a:cubicBezTo>
                <a:cubicBezTo>
                  <a:pt x="448" y="99"/>
                  <a:pt x="448" y="99"/>
                  <a:pt x="448" y="99"/>
                </a:cubicBezTo>
                <a:cubicBezTo>
                  <a:pt x="349" y="99"/>
                  <a:pt x="349" y="99"/>
                  <a:pt x="349" y="99"/>
                </a:cubicBezTo>
                <a:lnTo>
                  <a:pt x="349" y="50"/>
                </a:lnTo>
                <a:close/>
                <a:moveTo>
                  <a:pt x="349" y="149"/>
                </a:moveTo>
                <a:cubicBezTo>
                  <a:pt x="448" y="149"/>
                  <a:pt x="448" y="149"/>
                  <a:pt x="448" y="149"/>
                </a:cubicBezTo>
                <a:cubicBezTo>
                  <a:pt x="448" y="249"/>
                  <a:pt x="448" y="249"/>
                  <a:pt x="448" y="249"/>
                </a:cubicBezTo>
                <a:cubicBezTo>
                  <a:pt x="349" y="249"/>
                  <a:pt x="349" y="249"/>
                  <a:pt x="349" y="249"/>
                </a:cubicBezTo>
                <a:lnTo>
                  <a:pt x="349" y="149"/>
                </a:lnTo>
                <a:close/>
                <a:moveTo>
                  <a:pt x="100" y="50"/>
                </a:moveTo>
                <a:cubicBezTo>
                  <a:pt x="199" y="50"/>
                  <a:pt x="199" y="50"/>
                  <a:pt x="199" y="50"/>
                </a:cubicBezTo>
                <a:cubicBezTo>
                  <a:pt x="199" y="99"/>
                  <a:pt x="199" y="99"/>
                  <a:pt x="199" y="99"/>
                </a:cubicBezTo>
                <a:cubicBezTo>
                  <a:pt x="100" y="99"/>
                  <a:pt x="100" y="99"/>
                  <a:pt x="100" y="99"/>
                </a:cubicBezTo>
                <a:lnTo>
                  <a:pt x="100" y="50"/>
                </a:lnTo>
                <a:close/>
                <a:moveTo>
                  <a:pt x="100" y="149"/>
                </a:moveTo>
                <a:cubicBezTo>
                  <a:pt x="199" y="149"/>
                  <a:pt x="199" y="149"/>
                  <a:pt x="199" y="149"/>
                </a:cubicBezTo>
                <a:cubicBezTo>
                  <a:pt x="199" y="249"/>
                  <a:pt x="199" y="249"/>
                  <a:pt x="199" y="249"/>
                </a:cubicBezTo>
                <a:cubicBezTo>
                  <a:pt x="100" y="249"/>
                  <a:pt x="100" y="249"/>
                  <a:pt x="100" y="249"/>
                </a:cubicBezTo>
                <a:lnTo>
                  <a:pt x="100" y="149"/>
                </a:lnTo>
                <a:close/>
                <a:moveTo>
                  <a:pt x="199" y="697"/>
                </a:moveTo>
                <a:cubicBezTo>
                  <a:pt x="199" y="725"/>
                  <a:pt x="177" y="747"/>
                  <a:pt x="149" y="747"/>
                </a:cubicBezTo>
                <a:cubicBezTo>
                  <a:pt x="122" y="747"/>
                  <a:pt x="100" y="725"/>
                  <a:pt x="100" y="697"/>
                </a:cubicBezTo>
                <a:cubicBezTo>
                  <a:pt x="100" y="448"/>
                  <a:pt x="100" y="448"/>
                  <a:pt x="100" y="448"/>
                </a:cubicBezTo>
                <a:cubicBezTo>
                  <a:pt x="199" y="448"/>
                  <a:pt x="199" y="448"/>
                  <a:pt x="199" y="448"/>
                </a:cubicBezTo>
                <a:lnTo>
                  <a:pt x="199" y="697"/>
                </a:lnTo>
                <a:close/>
                <a:moveTo>
                  <a:pt x="448" y="697"/>
                </a:moveTo>
                <a:cubicBezTo>
                  <a:pt x="448" y="725"/>
                  <a:pt x="426" y="747"/>
                  <a:pt x="398" y="747"/>
                </a:cubicBezTo>
                <a:cubicBezTo>
                  <a:pt x="371" y="747"/>
                  <a:pt x="349" y="725"/>
                  <a:pt x="349" y="697"/>
                </a:cubicBezTo>
                <a:cubicBezTo>
                  <a:pt x="349" y="448"/>
                  <a:pt x="349" y="448"/>
                  <a:pt x="349" y="448"/>
                </a:cubicBezTo>
                <a:cubicBezTo>
                  <a:pt x="448" y="448"/>
                  <a:pt x="448" y="448"/>
                  <a:pt x="448" y="448"/>
                </a:cubicBezTo>
                <a:lnTo>
                  <a:pt x="448" y="697"/>
                </a:lnTo>
                <a:close/>
                <a:moveTo>
                  <a:pt x="697" y="697"/>
                </a:moveTo>
                <a:cubicBezTo>
                  <a:pt x="697" y="725"/>
                  <a:pt x="675" y="747"/>
                  <a:pt x="647" y="747"/>
                </a:cubicBezTo>
                <a:cubicBezTo>
                  <a:pt x="620" y="747"/>
                  <a:pt x="598" y="725"/>
                  <a:pt x="598" y="697"/>
                </a:cubicBezTo>
                <a:cubicBezTo>
                  <a:pt x="598" y="448"/>
                  <a:pt x="598" y="448"/>
                  <a:pt x="598" y="448"/>
                </a:cubicBezTo>
                <a:cubicBezTo>
                  <a:pt x="697" y="448"/>
                  <a:pt x="697" y="448"/>
                  <a:pt x="697" y="448"/>
                </a:cubicBezTo>
                <a:lnTo>
                  <a:pt x="697" y="697"/>
                </a:lnTo>
                <a:close/>
                <a:moveTo>
                  <a:pt x="747" y="398"/>
                </a:moveTo>
                <a:cubicBezTo>
                  <a:pt x="50" y="398"/>
                  <a:pt x="50" y="398"/>
                  <a:pt x="50" y="398"/>
                </a:cubicBezTo>
                <a:cubicBezTo>
                  <a:pt x="50" y="299"/>
                  <a:pt x="50" y="299"/>
                  <a:pt x="50" y="299"/>
                </a:cubicBezTo>
                <a:cubicBezTo>
                  <a:pt x="747" y="299"/>
                  <a:pt x="747" y="299"/>
                  <a:pt x="747" y="299"/>
                </a:cubicBezTo>
                <a:lnTo>
                  <a:pt x="747" y="3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Freeform 13"/>
          <p:cNvSpPr/>
          <p:nvPr>
            <p:custDataLst>
              <p:tags r:id="rId16"/>
            </p:custDataLst>
          </p:nvPr>
        </p:nvSpPr>
        <p:spPr bwMode="auto">
          <a:xfrm>
            <a:off x="417627" y="2180848"/>
            <a:ext cx="177075" cy="234727"/>
          </a:xfrm>
          <a:custGeom>
            <a:avLst/>
            <a:gdLst>
              <a:gd name="T0" fmla="*/ 598 w 598"/>
              <a:gd name="T1" fmla="*/ 287 h 797"/>
              <a:gd name="T2" fmla="*/ 299 w 598"/>
              <a:gd name="T3" fmla="*/ 0 h 797"/>
              <a:gd name="T4" fmla="*/ 0 w 598"/>
              <a:gd name="T5" fmla="*/ 287 h 797"/>
              <a:gd name="T6" fmla="*/ 167 w 598"/>
              <a:gd name="T7" fmla="*/ 543 h 797"/>
              <a:gd name="T8" fmla="*/ 163 w 598"/>
              <a:gd name="T9" fmla="*/ 623 h 797"/>
              <a:gd name="T10" fmla="*/ 150 w 598"/>
              <a:gd name="T11" fmla="*/ 660 h 797"/>
              <a:gd name="T12" fmla="*/ 212 w 598"/>
              <a:gd name="T13" fmla="*/ 723 h 797"/>
              <a:gd name="T14" fmla="*/ 225 w 598"/>
              <a:gd name="T15" fmla="*/ 723 h 797"/>
              <a:gd name="T16" fmla="*/ 299 w 598"/>
              <a:gd name="T17" fmla="*/ 797 h 797"/>
              <a:gd name="T18" fmla="*/ 374 w 598"/>
              <a:gd name="T19" fmla="*/ 723 h 797"/>
              <a:gd name="T20" fmla="*/ 386 w 598"/>
              <a:gd name="T21" fmla="*/ 723 h 797"/>
              <a:gd name="T22" fmla="*/ 449 w 598"/>
              <a:gd name="T23" fmla="*/ 660 h 797"/>
              <a:gd name="T24" fmla="*/ 436 w 598"/>
              <a:gd name="T25" fmla="*/ 623 h 797"/>
              <a:gd name="T26" fmla="*/ 432 w 598"/>
              <a:gd name="T27" fmla="*/ 543 h 797"/>
              <a:gd name="T28" fmla="*/ 598 w 598"/>
              <a:gd name="T29" fmla="*/ 287 h 797"/>
              <a:gd name="T30" fmla="*/ 225 w 598"/>
              <a:gd name="T31" fmla="*/ 355 h 797"/>
              <a:gd name="T32" fmla="*/ 249 w 598"/>
              <a:gd name="T33" fmla="*/ 305 h 797"/>
              <a:gd name="T34" fmla="*/ 277 w 598"/>
              <a:gd name="T35" fmla="*/ 360 h 797"/>
              <a:gd name="T36" fmla="*/ 322 w 598"/>
              <a:gd name="T37" fmla="*/ 360 h 797"/>
              <a:gd name="T38" fmla="*/ 349 w 598"/>
              <a:gd name="T39" fmla="*/ 305 h 797"/>
              <a:gd name="T40" fmla="*/ 374 w 598"/>
              <a:gd name="T41" fmla="*/ 355 h 797"/>
              <a:gd name="T42" fmla="*/ 374 w 598"/>
              <a:gd name="T43" fmla="*/ 512 h 797"/>
              <a:gd name="T44" fmla="*/ 225 w 598"/>
              <a:gd name="T45" fmla="*/ 512 h 797"/>
              <a:gd name="T46" fmla="*/ 225 w 598"/>
              <a:gd name="T47" fmla="*/ 355 h 797"/>
              <a:gd name="T48" fmla="*/ 200 w 598"/>
              <a:gd name="T49" fmla="*/ 586 h 797"/>
              <a:gd name="T50" fmla="*/ 212 w 598"/>
              <a:gd name="T51" fmla="*/ 573 h 797"/>
              <a:gd name="T52" fmla="*/ 386 w 598"/>
              <a:gd name="T53" fmla="*/ 573 h 797"/>
              <a:gd name="T54" fmla="*/ 399 w 598"/>
              <a:gd name="T55" fmla="*/ 586 h 797"/>
              <a:gd name="T56" fmla="*/ 386 w 598"/>
              <a:gd name="T57" fmla="*/ 598 h 797"/>
              <a:gd name="T58" fmla="*/ 212 w 598"/>
              <a:gd name="T59" fmla="*/ 598 h 797"/>
              <a:gd name="T60" fmla="*/ 200 w 598"/>
              <a:gd name="T61" fmla="*/ 586 h 797"/>
              <a:gd name="T62" fmla="*/ 299 w 598"/>
              <a:gd name="T63" fmla="*/ 747 h 797"/>
              <a:gd name="T64" fmla="*/ 274 w 598"/>
              <a:gd name="T65" fmla="*/ 723 h 797"/>
              <a:gd name="T66" fmla="*/ 324 w 598"/>
              <a:gd name="T67" fmla="*/ 723 h 797"/>
              <a:gd name="T68" fmla="*/ 299 w 598"/>
              <a:gd name="T69" fmla="*/ 747 h 797"/>
              <a:gd name="T70" fmla="*/ 386 w 598"/>
              <a:gd name="T71" fmla="*/ 673 h 797"/>
              <a:gd name="T72" fmla="*/ 212 w 598"/>
              <a:gd name="T73" fmla="*/ 673 h 797"/>
              <a:gd name="T74" fmla="*/ 200 w 598"/>
              <a:gd name="T75" fmla="*/ 660 h 797"/>
              <a:gd name="T76" fmla="*/ 212 w 598"/>
              <a:gd name="T77" fmla="*/ 648 h 797"/>
              <a:gd name="T78" fmla="*/ 386 w 598"/>
              <a:gd name="T79" fmla="*/ 648 h 797"/>
              <a:gd name="T80" fmla="*/ 399 w 598"/>
              <a:gd name="T81" fmla="*/ 660 h 797"/>
              <a:gd name="T82" fmla="*/ 386 w 598"/>
              <a:gd name="T83" fmla="*/ 673 h 797"/>
              <a:gd name="T84" fmla="*/ 424 w 598"/>
              <a:gd name="T85" fmla="*/ 491 h 797"/>
              <a:gd name="T86" fmla="*/ 424 w 598"/>
              <a:gd name="T87" fmla="*/ 355 h 797"/>
              <a:gd name="T88" fmla="*/ 471 w 598"/>
              <a:gd name="T89" fmla="*/ 261 h 797"/>
              <a:gd name="T90" fmla="*/ 460 w 598"/>
              <a:gd name="T91" fmla="*/ 227 h 797"/>
              <a:gd name="T92" fmla="*/ 426 w 598"/>
              <a:gd name="T93" fmla="*/ 238 h 797"/>
              <a:gd name="T94" fmla="*/ 399 w 598"/>
              <a:gd name="T95" fmla="*/ 293 h 797"/>
              <a:gd name="T96" fmla="*/ 371 w 598"/>
              <a:gd name="T97" fmla="*/ 238 h 797"/>
              <a:gd name="T98" fmla="*/ 327 w 598"/>
              <a:gd name="T99" fmla="*/ 238 h 797"/>
              <a:gd name="T100" fmla="*/ 299 w 598"/>
              <a:gd name="T101" fmla="*/ 293 h 797"/>
              <a:gd name="T102" fmla="*/ 272 w 598"/>
              <a:gd name="T103" fmla="*/ 238 h 797"/>
              <a:gd name="T104" fmla="*/ 227 w 598"/>
              <a:gd name="T105" fmla="*/ 238 h 797"/>
              <a:gd name="T106" fmla="*/ 200 w 598"/>
              <a:gd name="T107" fmla="*/ 293 h 797"/>
              <a:gd name="T108" fmla="*/ 172 w 598"/>
              <a:gd name="T109" fmla="*/ 238 h 797"/>
              <a:gd name="T110" fmla="*/ 139 w 598"/>
              <a:gd name="T111" fmla="*/ 227 h 797"/>
              <a:gd name="T112" fmla="*/ 128 w 598"/>
              <a:gd name="T113" fmla="*/ 261 h 797"/>
              <a:gd name="T114" fmla="*/ 175 w 598"/>
              <a:gd name="T115" fmla="*/ 355 h 797"/>
              <a:gd name="T116" fmla="*/ 175 w 598"/>
              <a:gd name="T117" fmla="*/ 491 h 797"/>
              <a:gd name="T118" fmla="*/ 50 w 598"/>
              <a:gd name="T119" fmla="*/ 287 h 797"/>
              <a:gd name="T120" fmla="*/ 299 w 598"/>
              <a:gd name="T121" fmla="*/ 50 h 797"/>
              <a:gd name="T122" fmla="*/ 548 w 598"/>
              <a:gd name="T123" fmla="*/ 287 h 797"/>
              <a:gd name="T124" fmla="*/ 424 w 598"/>
              <a:gd name="T125" fmla="*/ 49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8" h="797">
                <a:moveTo>
                  <a:pt x="598" y="287"/>
                </a:moveTo>
                <a:cubicBezTo>
                  <a:pt x="598" y="129"/>
                  <a:pt x="464" y="0"/>
                  <a:pt x="299" y="0"/>
                </a:cubicBezTo>
                <a:cubicBezTo>
                  <a:pt x="134" y="0"/>
                  <a:pt x="0" y="129"/>
                  <a:pt x="0" y="287"/>
                </a:cubicBezTo>
                <a:cubicBezTo>
                  <a:pt x="0" y="399"/>
                  <a:pt x="68" y="496"/>
                  <a:pt x="167" y="543"/>
                </a:cubicBezTo>
                <a:cubicBezTo>
                  <a:pt x="146" y="565"/>
                  <a:pt x="144" y="599"/>
                  <a:pt x="163" y="623"/>
                </a:cubicBezTo>
                <a:cubicBezTo>
                  <a:pt x="154" y="634"/>
                  <a:pt x="150" y="647"/>
                  <a:pt x="150" y="660"/>
                </a:cubicBezTo>
                <a:cubicBezTo>
                  <a:pt x="150" y="695"/>
                  <a:pt x="178" y="723"/>
                  <a:pt x="212" y="723"/>
                </a:cubicBezTo>
                <a:cubicBezTo>
                  <a:pt x="225" y="723"/>
                  <a:pt x="225" y="723"/>
                  <a:pt x="225" y="723"/>
                </a:cubicBezTo>
                <a:cubicBezTo>
                  <a:pt x="225" y="764"/>
                  <a:pt x="258" y="797"/>
                  <a:pt x="299" y="797"/>
                </a:cubicBezTo>
                <a:cubicBezTo>
                  <a:pt x="340" y="797"/>
                  <a:pt x="374" y="764"/>
                  <a:pt x="374" y="723"/>
                </a:cubicBezTo>
                <a:cubicBezTo>
                  <a:pt x="386" y="723"/>
                  <a:pt x="386" y="723"/>
                  <a:pt x="386" y="723"/>
                </a:cubicBezTo>
                <a:cubicBezTo>
                  <a:pt x="421" y="723"/>
                  <a:pt x="449" y="695"/>
                  <a:pt x="449" y="660"/>
                </a:cubicBezTo>
                <a:cubicBezTo>
                  <a:pt x="449" y="647"/>
                  <a:pt x="444" y="634"/>
                  <a:pt x="436" y="623"/>
                </a:cubicBezTo>
                <a:cubicBezTo>
                  <a:pt x="454" y="599"/>
                  <a:pt x="453" y="565"/>
                  <a:pt x="432" y="543"/>
                </a:cubicBezTo>
                <a:cubicBezTo>
                  <a:pt x="530" y="496"/>
                  <a:pt x="598" y="399"/>
                  <a:pt x="598" y="287"/>
                </a:cubicBezTo>
                <a:close/>
                <a:moveTo>
                  <a:pt x="225" y="355"/>
                </a:moveTo>
                <a:cubicBezTo>
                  <a:pt x="249" y="305"/>
                  <a:pt x="249" y="305"/>
                  <a:pt x="249" y="305"/>
                </a:cubicBezTo>
                <a:cubicBezTo>
                  <a:pt x="277" y="360"/>
                  <a:pt x="277" y="360"/>
                  <a:pt x="277" y="360"/>
                </a:cubicBezTo>
                <a:cubicBezTo>
                  <a:pt x="285" y="377"/>
                  <a:pt x="313" y="377"/>
                  <a:pt x="322" y="360"/>
                </a:cubicBezTo>
                <a:cubicBezTo>
                  <a:pt x="349" y="305"/>
                  <a:pt x="349" y="305"/>
                  <a:pt x="349" y="305"/>
                </a:cubicBezTo>
                <a:cubicBezTo>
                  <a:pt x="374" y="355"/>
                  <a:pt x="374" y="355"/>
                  <a:pt x="374" y="355"/>
                </a:cubicBezTo>
                <a:cubicBezTo>
                  <a:pt x="374" y="512"/>
                  <a:pt x="374" y="512"/>
                  <a:pt x="374" y="512"/>
                </a:cubicBezTo>
                <a:cubicBezTo>
                  <a:pt x="325" y="527"/>
                  <a:pt x="273" y="527"/>
                  <a:pt x="225" y="512"/>
                </a:cubicBezTo>
                <a:lnTo>
                  <a:pt x="225" y="355"/>
                </a:lnTo>
                <a:close/>
                <a:moveTo>
                  <a:pt x="200" y="586"/>
                </a:moveTo>
                <a:cubicBezTo>
                  <a:pt x="200" y="579"/>
                  <a:pt x="205" y="573"/>
                  <a:pt x="212" y="573"/>
                </a:cubicBezTo>
                <a:cubicBezTo>
                  <a:pt x="386" y="573"/>
                  <a:pt x="386" y="573"/>
                  <a:pt x="386" y="573"/>
                </a:cubicBezTo>
                <a:cubicBezTo>
                  <a:pt x="393" y="573"/>
                  <a:pt x="399" y="579"/>
                  <a:pt x="399" y="586"/>
                </a:cubicBezTo>
                <a:cubicBezTo>
                  <a:pt x="399" y="593"/>
                  <a:pt x="393" y="598"/>
                  <a:pt x="386" y="598"/>
                </a:cubicBezTo>
                <a:cubicBezTo>
                  <a:pt x="212" y="598"/>
                  <a:pt x="212" y="598"/>
                  <a:pt x="212" y="598"/>
                </a:cubicBezTo>
                <a:cubicBezTo>
                  <a:pt x="205" y="598"/>
                  <a:pt x="200" y="592"/>
                  <a:pt x="200" y="586"/>
                </a:cubicBezTo>
                <a:close/>
                <a:moveTo>
                  <a:pt x="299" y="747"/>
                </a:moveTo>
                <a:cubicBezTo>
                  <a:pt x="285" y="747"/>
                  <a:pt x="274" y="736"/>
                  <a:pt x="274" y="723"/>
                </a:cubicBezTo>
                <a:cubicBezTo>
                  <a:pt x="324" y="723"/>
                  <a:pt x="324" y="723"/>
                  <a:pt x="324" y="723"/>
                </a:cubicBezTo>
                <a:cubicBezTo>
                  <a:pt x="324" y="736"/>
                  <a:pt x="313" y="747"/>
                  <a:pt x="299" y="747"/>
                </a:cubicBezTo>
                <a:close/>
                <a:moveTo>
                  <a:pt x="386" y="673"/>
                </a:moveTo>
                <a:cubicBezTo>
                  <a:pt x="212" y="673"/>
                  <a:pt x="212" y="673"/>
                  <a:pt x="212" y="673"/>
                </a:cubicBezTo>
                <a:cubicBezTo>
                  <a:pt x="205" y="673"/>
                  <a:pt x="200" y="667"/>
                  <a:pt x="200" y="660"/>
                </a:cubicBezTo>
                <a:cubicBezTo>
                  <a:pt x="200" y="653"/>
                  <a:pt x="205" y="648"/>
                  <a:pt x="212" y="648"/>
                </a:cubicBezTo>
                <a:cubicBezTo>
                  <a:pt x="386" y="648"/>
                  <a:pt x="386" y="648"/>
                  <a:pt x="386" y="648"/>
                </a:cubicBezTo>
                <a:cubicBezTo>
                  <a:pt x="393" y="648"/>
                  <a:pt x="399" y="654"/>
                  <a:pt x="399" y="660"/>
                </a:cubicBezTo>
                <a:cubicBezTo>
                  <a:pt x="399" y="667"/>
                  <a:pt x="393" y="673"/>
                  <a:pt x="386" y="673"/>
                </a:cubicBezTo>
                <a:close/>
                <a:moveTo>
                  <a:pt x="424" y="491"/>
                </a:moveTo>
                <a:cubicBezTo>
                  <a:pt x="424" y="355"/>
                  <a:pt x="424" y="355"/>
                  <a:pt x="424" y="355"/>
                </a:cubicBezTo>
                <a:cubicBezTo>
                  <a:pt x="471" y="261"/>
                  <a:pt x="471" y="261"/>
                  <a:pt x="471" y="261"/>
                </a:cubicBezTo>
                <a:cubicBezTo>
                  <a:pt x="477" y="248"/>
                  <a:pt x="472" y="233"/>
                  <a:pt x="460" y="227"/>
                </a:cubicBezTo>
                <a:cubicBezTo>
                  <a:pt x="447" y="221"/>
                  <a:pt x="433" y="226"/>
                  <a:pt x="426" y="23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71" y="238"/>
                  <a:pt x="371" y="238"/>
                  <a:pt x="371" y="238"/>
                </a:cubicBezTo>
                <a:cubicBezTo>
                  <a:pt x="363" y="221"/>
                  <a:pt x="335" y="221"/>
                  <a:pt x="327" y="238"/>
                </a:cubicBezTo>
                <a:cubicBezTo>
                  <a:pt x="299" y="293"/>
                  <a:pt x="299" y="293"/>
                  <a:pt x="299" y="293"/>
                </a:cubicBezTo>
                <a:cubicBezTo>
                  <a:pt x="272" y="238"/>
                  <a:pt x="272" y="238"/>
                  <a:pt x="272" y="238"/>
                </a:cubicBezTo>
                <a:cubicBezTo>
                  <a:pt x="263" y="221"/>
                  <a:pt x="236" y="221"/>
                  <a:pt x="227" y="238"/>
                </a:cubicBezTo>
                <a:cubicBezTo>
                  <a:pt x="200" y="293"/>
                  <a:pt x="200" y="293"/>
                  <a:pt x="200" y="293"/>
                </a:cubicBezTo>
                <a:cubicBezTo>
                  <a:pt x="172" y="238"/>
                  <a:pt x="172" y="238"/>
                  <a:pt x="172" y="238"/>
                </a:cubicBezTo>
                <a:cubicBezTo>
                  <a:pt x="166" y="226"/>
                  <a:pt x="151" y="221"/>
                  <a:pt x="139" y="227"/>
                </a:cubicBezTo>
                <a:cubicBezTo>
                  <a:pt x="126" y="234"/>
                  <a:pt x="122" y="248"/>
                  <a:pt x="128" y="261"/>
                </a:cubicBezTo>
                <a:cubicBezTo>
                  <a:pt x="175" y="355"/>
                  <a:pt x="175" y="355"/>
                  <a:pt x="175" y="355"/>
                </a:cubicBezTo>
                <a:cubicBezTo>
                  <a:pt x="175" y="491"/>
                  <a:pt x="175" y="491"/>
                  <a:pt x="175" y="491"/>
                </a:cubicBezTo>
                <a:cubicBezTo>
                  <a:pt x="100" y="450"/>
                  <a:pt x="50" y="374"/>
                  <a:pt x="50" y="287"/>
                </a:cubicBezTo>
                <a:cubicBezTo>
                  <a:pt x="50" y="156"/>
                  <a:pt x="162" y="50"/>
                  <a:pt x="299" y="50"/>
                </a:cubicBezTo>
                <a:cubicBezTo>
                  <a:pt x="437" y="50"/>
                  <a:pt x="548" y="156"/>
                  <a:pt x="548" y="287"/>
                </a:cubicBezTo>
                <a:cubicBezTo>
                  <a:pt x="548" y="374"/>
                  <a:pt x="498" y="450"/>
                  <a:pt x="424" y="4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17"/>
            </p:custDataLst>
          </p:nvPr>
        </p:nvGrpSpPr>
        <p:grpSpPr>
          <a:xfrm>
            <a:off x="403125" y="4022384"/>
            <a:ext cx="206079" cy="182905"/>
            <a:chOff x="7551221" y="4142793"/>
            <a:chExt cx="388974" cy="345232"/>
          </a:xfrm>
          <a:solidFill>
            <a:schemeClr val="bg1"/>
          </a:solidFill>
        </p:grpSpPr>
        <p:sp>
          <p:nvSpPr>
            <p:cNvPr id="42" name="Freeform 5"/>
            <p:cNvSpPr/>
            <p:nvPr>
              <p:custDataLst>
                <p:tags r:id="rId18"/>
              </p:custDataLst>
            </p:nvPr>
          </p:nvSpPr>
          <p:spPr bwMode="auto">
            <a:xfrm>
              <a:off x="7831781" y="4142793"/>
              <a:ext cx="108414" cy="345232"/>
            </a:xfrm>
            <a:custGeom>
              <a:avLst/>
              <a:gdLst>
                <a:gd name="T0" fmla="*/ 194 w 194"/>
                <a:gd name="T1" fmla="*/ 164 h 617"/>
                <a:gd name="T2" fmla="*/ 194 w 194"/>
                <a:gd name="T3" fmla="*/ 164 h 617"/>
                <a:gd name="T4" fmla="*/ 194 w 194"/>
                <a:gd name="T5" fmla="*/ 160 h 617"/>
                <a:gd name="T6" fmla="*/ 193 w 194"/>
                <a:gd name="T7" fmla="*/ 160 h 617"/>
                <a:gd name="T8" fmla="*/ 193 w 194"/>
                <a:gd name="T9" fmla="*/ 159 h 617"/>
                <a:gd name="T10" fmla="*/ 192 w 194"/>
                <a:gd name="T11" fmla="*/ 156 h 617"/>
                <a:gd name="T12" fmla="*/ 192 w 194"/>
                <a:gd name="T13" fmla="*/ 156 h 617"/>
                <a:gd name="T14" fmla="*/ 192 w 194"/>
                <a:gd name="T15" fmla="*/ 156 h 617"/>
                <a:gd name="T16" fmla="*/ 115 w 194"/>
                <a:gd name="T17" fmla="*/ 11 h 617"/>
                <a:gd name="T18" fmla="*/ 97 w 194"/>
                <a:gd name="T19" fmla="*/ 0 h 617"/>
                <a:gd name="T20" fmla="*/ 80 w 194"/>
                <a:gd name="T21" fmla="*/ 11 h 617"/>
                <a:gd name="T22" fmla="*/ 3 w 194"/>
                <a:gd name="T23" fmla="*/ 156 h 617"/>
                <a:gd name="T24" fmla="*/ 3 w 194"/>
                <a:gd name="T25" fmla="*/ 156 h 617"/>
                <a:gd name="T26" fmla="*/ 3 w 194"/>
                <a:gd name="T27" fmla="*/ 156 h 617"/>
                <a:gd name="T28" fmla="*/ 2 w 194"/>
                <a:gd name="T29" fmla="*/ 159 h 617"/>
                <a:gd name="T30" fmla="*/ 1 w 194"/>
                <a:gd name="T31" fmla="*/ 160 h 617"/>
                <a:gd name="T32" fmla="*/ 1 w 194"/>
                <a:gd name="T33" fmla="*/ 160 h 617"/>
                <a:gd name="T34" fmla="*/ 1 w 194"/>
                <a:gd name="T35" fmla="*/ 164 h 617"/>
                <a:gd name="T36" fmla="*/ 1 w 194"/>
                <a:gd name="T37" fmla="*/ 164 h 617"/>
                <a:gd name="T38" fmla="*/ 0 w 194"/>
                <a:gd name="T39" fmla="*/ 166 h 617"/>
                <a:gd name="T40" fmla="*/ 0 w 194"/>
                <a:gd name="T41" fmla="*/ 597 h 617"/>
                <a:gd name="T42" fmla="*/ 20 w 194"/>
                <a:gd name="T43" fmla="*/ 617 h 617"/>
                <a:gd name="T44" fmla="*/ 174 w 194"/>
                <a:gd name="T45" fmla="*/ 617 h 617"/>
                <a:gd name="T46" fmla="*/ 194 w 194"/>
                <a:gd name="T47" fmla="*/ 597 h 617"/>
                <a:gd name="T48" fmla="*/ 194 w 194"/>
                <a:gd name="T49" fmla="*/ 166 h 617"/>
                <a:gd name="T50" fmla="*/ 194 w 194"/>
                <a:gd name="T51" fmla="*/ 164 h 617"/>
                <a:gd name="T52" fmla="*/ 40 w 194"/>
                <a:gd name="T53" fmla="*/ 193 h 617"/>
                <a:gd name="T54" fmla="*/ 91 w 194"/>
                <a:gd name="T55" fmla="*/ 209 h 617"/>
                <a:gd name="T56" fmla="*/ 97 w 194"/>
                <a:gd name="T57" fmla="*/ 210 h 617"/>
                <a:gd name="T58" fmla="*/ 103 w 194"/>
                <a:gd name="T59" fmla="*/ 209 h 617"/>
                <a:gd name="T60" fmla="*/ 154 w 194"/>
                <a:gd name="T61" fmla="*/ 193 h 617"/>
                <a:gd name="T62" fmla="*/ 154 w 194"/>
                <a:gd name="T63" fmla="*/ 491 h 617"/>
                <a:gd name="T64" fmla="*/ 40 w 194"/>
                <a:gd name="T65" fmla="*/ 491 h 617"/>
                <a:gd name="T66" fmla="*/ 40 w 194"/>
                <a:gd name="T67" fmla="*/ 193 h 617"/>
                <a:gd name="T68" fmla="*/ 97 w 194"/>
                <a:gd name="T69" fmla="*/ 63 h 617"/>
                <a:gd name="T70" fmla="*/ 145 w 194"/>
                <a:gd name="T71" fmla="*/ 154 h 617"/>
                <a:gd name="T72" fmla="*/ 97 w 194"/>
                <a:gd name="T73" fmla="*/ 169 h 617"/>
                <a:gd name="T74" fmla="*/ 49 w 194"/>
                <a:gd name="T75" fmla="*/ 154 h 617"/>
                <a:gd name="T76" fmla="*/ 97 w 194"/>
                <a:gd name="T77" fmla="*/ 63 h 617"/>
                <a:gd name="T78" fmla="*/ 40 w 194"/>
                <a:gd name="T79" fmla="*/ 577 h 617"/>
                <a:gd name="T80" fmla="*/ 40 w 194"/>
                <a:gd name="T81" fmla="*/ 577 h 617"/>
                <a:gd name="T82" fmla="*/ 40 w 194"/>
                <a:gd name="T83" fmla="*/ 531 h 617"/>
                <a:gd name="T84" fmla="*/ 154 w 194"/>
                <a:gd name="T85" fmla="*/ 531 h 617"/>
                <a:gd name="T86" fmla="*/ 154 w 194"/>
                <a:gd name="T87" fmla="*/ 577 h 617"/>
                <a:gd name="T88" fmla="*/ 40 w 194"/>
                <a:gd name="T89" fmla="*/ 577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4" h="617">
                  <a:moveTo>
                    <a:pt x="194" y="164"/>
                  </a:moveTo>
                  <a:cubicBezTo>
                    <a:pt x="194" y="164"/>
                    <a:pt x="194" y="164"/>
                    <a:pt x="194" y="164"/>
                  </a:cubicBezTo>
                  <a:cubicBezTo>
                    <a:pt x="194" y="162"/>
                    <a:pt x="194" y="161"/>
                    <a:pt x="194" y="160"/>
                  </a:cubicBezTo>
                  <a:cubicBezTo>
                    <a:pt x="194" y="160"/>
                    <a:pt x="194" y="160"/>
                    <a:pt x="193" y="160"/>
                  </a:cubicBezTo>
                  <a:cubicBezTo>
                    <a:pt x="193" y="160"/>
                    <a:pt x="193" y="160"/>
                    <a:pt x="193" y="159"/>
                  </a:cubicBezTo>
                  <a:cubicBezTo>
                    <a:pt x="193" y="158"/>
                    <a:pt x="193" y="157"/>
                    <a:pt x="192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115" y="11"/>
                    <a:pt x="115" y="11"/>
                    <a:pt x="115" y="11"/>
                  </a:cubicBezTo>
                  <a:cubicBezTo>
                    <a:pt x="112" y="4"/>
                    <a:pt x="105" y="0"/>
                    <a:pt x="97" y="0"/>
                  </a:cubicBezTo>
                  <a:cubicBezTo>
                    <a:pt x="90" y="0"/>
                    <a:pt x="83" y="4"/>
                    <a:pt x="80" y="11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2" y="157"/>
                    <a:pt x="2" y="158"/>
                    <a:pt x="2" y="159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1" y="160"/>
                    <a:pt x="1" y="160"/>
                    <a:pt x="1" y="160"/>
                  </a:cubicBezTo>
                  <a:cubicBezTo>
                    <a:pt x="1" y="161"/>
                    <a:pt x="1" y="162"/>
                    <a:pt x="1" y="164"/>
                  </a:cubicBezTo>
                  <a:cubicBezTo>
                    <a:pt x="1" y="164"/>
                    <a:pt x="1" y="164"/>
                    <a:pt x="1" y="164"/>
                  </a:cubicBezTo>
                  <a:cubicBezTo>
                    <a:pt x="1" y="165"/>
                    <a:pt x="0" y="165"/>
                    <a:pt x="0" y="166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0" y="608"/>
                    <a:pt x="9" y="617"/>
                    <a:pt x="20" y="617"/>
                  </a:cubicBezTo>
                  <a:cubicBezTo>
                    <a:pt x="174" y="617"/>
                    <a:pt x="174" y="617"/>
                    <a:pt x="174" y="617"/>
                  </a:cubicBezTo>
                  <a:cubicBezTo>
                    <a:pt x="185" y="617"/>
                    <a:pt x="194" y="608"/>
                    <a:pt x="194" y="597"/>
                  </a:cubicBezTo>
                  <a:cubicBezTo>
                    <a:pt x="194" y="166"/>
                    <a:pt x="194" y="166"/>
                    <a:pt x="194" y="166"/>
                  </a:cubicBezTo>
                  <a:cubicBezTo>
                    <a:pt x="194" y="165"/>
                    <a:pt x="194" y="165"/>
                    <a:pt x="194" y="164"/>
                  </a:cubicBezTo>
                  <a:close/>
                  <a:moveTo>
                    <a:pt x="40" y="193"/>
                  </a:moveTo>
                  <a:cubicBezTo>
                    <a:pt x="91" y="209"/>
                    <a:pt x="91" y="209"/>
                    <a:pt x="91" y="209"/>
                  </a:cubicBezTo>
                  <a:cubicBezTo>
                    <a:pt x="93" y="209"/>
                    <a:pt x="95" y="210"/>
                    <a:pt x="97" y="210"/>
                  </a:cubicBezTo>
                  <a:cubicBezTo>
                    <a:pt x="99" y="210"/>
                    <a:pt x="101" y="209"/>
                    <a:pt x="103" y="209"/>
                  </a:cubicBezTo>
                  <a:cubicBezTo>
                    <a:pt x="154" y="193"/>
                    <a:pt x="154" y="193"/>
                    <a:pt x="154" y="193"/>
                  </a:cubicBezTo>
                  <a:cubicBezTo>
                    <a:pt x="154" y="491"/>
                    <a:pt x="154" y="491"/>
                    <a:pt x="154" y="491"/>
                  </a:cubicBezTo>
                  <a:cubicBezTo>
                    <a:pt x="40" y="491"/>
                    <a:pt x="40" y="491"/>
                    <a:pt x="40" y="491"/>
                  </a:cubicBezTo>
                  <a:lnTo>
                    <a:pt x="40" y="193"/>
                  </a:lnTo>
                  <a:close/>
                  <a:moveTo>
                    <a:pt x="97" y="63"/>
                  </a:moveTo>
                  <a:cubicBezTo>
                    <a:pt x="145" y="154"/>
                    <a:pt x="145" y="154"/>
                    <a:pt x="145" y="154"/>
                  </a:cubicBezTo>
                  <a:cubicBezTo>
                    <a:pt x="97" y="169"/>
                    <a:pt x="97" y="169"/>
                    <a:pt x="97" y="169"/>
                  </a:cubicBezTo>
                  <a:cubicBezTo>
                    <a:pt x="49" y="154"/>
                    <a:pt x="49" y="154"/>
                    <a:pt x="49" y="154"/>
                  </a:cubicBezTo>
                  <a:lnTo>
                    <a:pt x="97" y="63"/>
                  </a:lnTo>
                  <a:close/>
                  <a:moveTo>
                    <a:pt x="40" y="577"/>
                  </a:moveTo>
                  <a:cubicBezTo>
                    <a:pt x="40" y="577"/>
                    <a:pt x="40" y="577"/>
                    <a:pt x="40" y="577"/>
                  </a:cubicBezTo>
                  <a:cubicBezTo>
                    <a:pt x="40" y="531"/>
                    <a:pt x="40" y="531"/>
                    <a:pt x="40" y="531"/>
                  </a:cubicBezTo>
                  <a:cubicBezTo>
                    <a:pt x="154" y="531"/>
                    <a:pt x="154" y="531"/>
                    <a:pt x="154" y="531"/>
                  </a:cubicBezTo>
                  <a:cubicBezTo>
                    <a:pt x="154" y="577"/>
                    <a:pt x="154" y="577"/>
                    <a:pt x="154" y="577"/>
                  </a:cubicBezTo>
                  <a:lnTo>
                    <a:pt x="40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6"/>
            <p:cNvSpPr/>
            <p:nvPr>
              <p:custDataLst>
                <p:tags r:id="rId19"/>
              </p:custDataLst>
            </p:nvPr>
          </p:nvSpPr>
          <p:spPr bwMode="auto">
            <a:xfrm>
              <a:off x="7551221" y="4142793"/>
              <a:ext cx="259159" cy="345232"/>
            </a:xfrm>
            <a:custGeom>
              <a:avLst/>
              <a:gdLst>
                <a:gd name="T0" fmla="*/ 443 w 463"/>
                <a:gd name="T1" fmla="*/ 0 h 617"/>
                <a:gd name="T2" fmla="*/ 20 w 463"/>
                <a:gd name="T3" fmla="*/ 0 h 617"/>
                <a:gd name="T4" fmla="*/ 0 w 463"/>
                <a:gd name="T5" fmla="*/ 20 h 617"/>
                <a:gd name="T6" fmla="*/ 0 w 463"/>
                <a:gd name="T7" fmla="*/ 597 h 617"/>
                <a:gd name="T8" fmla="*/ 20 w 463"/>
                <a:gd name="T9" fmla="*/ 617 h 617"/>
                <a:gd name="T10" fmla="*/ 443 w 463"/>
                <a:gd name="T11" fmla="*/ 617 h 617"/>
                <a:gd name="T12" fmla="*/ 463 w 463"/>
                <a:gd name="T13" fmla="*/ 597 h 617"/>
                <a:gd name="T14" fmla="*/ 463 w 463"/>
                <a:gd name="T15" fmla="*/ 20 h 617"/>
                <a:gd name="T16" fmla="*/ 443 w 463"/>
                <a:gd name="T17" fmla="*/ 0 h 617"/>
                <a:gd name="T18" fmla="*/ 423 w 463"/>
                <a:gd name="T19" fmla="*/ 577 h 617"/>
                <a:gd name="T20" fmla="*/ 40 w 463"/>
                <a:gd name="T21" fmla="*/ 577 h 617"/>
                <a:gd name="T22" fmla="*/ 40 w 463"/>
                <a:gd name="T23" fmla="*/ 40 h 617"/>
                <a:gd name="T24" fmla="*/ 423 w 463"/>
                <a:gd name="T25" fmla="*/ 40 h 617"/>
                <a:gd name="T26" fmla="*/ 423 w 463"/>
                <a:gd name="T27" fmla="*/ 577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2" h="617">
                  <a:moveTo>
                    <a:pt x="44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597"/>
                    <a:pt x="0" y="597"/>
                    <a:pt x="0" y="597"/>
                  </a:cubicBezTo>
                  <a:cubicBezTo>
                    <a:pt x="0" y="608"/>
                    <a:pt x="9" y="617"/>
                    <a:pt x="20" y="617"/>
                  </a:cubicBezTo>
                  <a:cubicBezTo>
                    <a:pt x="443" y="617"/>
                    <a:pt x="443" y="617"/>
                    <a:pt x="443" y="617"/>
                  </a:cubicBezTo>
                  <a:cubicBezTo>
                    <a:pt x="454" y="617"/>
                    <a:pt x="463" y="608"/>
                    <a:pt x="463" y="597"/>
                  </a:cubicBezTo>
                  <a:cubicBezTo>
                    <a:pt x="463" y="20"/>
                    <a:pt x="463" y="20"/>
                    <a:pt x="463" y="20"/>
                  </a:cubicBezTo>
                  <a:cubicBezTo>
                    <a:pt x="463" y="9"/>
                    <a:pt x="454" y="0"/>
                    <a:pt x="443" y="0"/>
                  </a:cubicBezTo>
                  <a:close/>
                  <a:moveTo>
                    <a:pt x="423" y="577"/>
                  </a:moveTo>
                  <a:cubicBezTo>
                    <a:pt x="40" y="577"/>
                    <a:pt x="40" y="577"/>
                    <a:pt x="40" y="577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23" y="40"/>
                    <a:pt x="423" y="40"/>
                    <a:pt x="423" y="40"/>
                  </a:cubicBezTo>
                  <a:lnTo>
                    <a:pt x="423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Freeform 7"/>
            <p:cNvSpPr/>
            <p:nvPr>
              <p:custDataLst>
                <p:tags r:id="rId20"/>
              </p:custDataLst>
            </p:nvPr>
          </p:nvSpPr>
          <p:spPr bwMode="auto">
            <a:xfrm>
              <a:off x="7595433" y="4276606"/>
              <a:ext cx="171911" cy="22341"/>
            </a:xfrm>
            <a:custGeom>
              <a:avLst/>
              <a:gdLst>
                <a:gd name="T0" fmla="*/ 20 w 307"/>
                <a:gd name="T1" fmla="*/ 40 h 40"/>
                <a:gd name="T2" fmla="*/ 287 w 307"/>
                <a:gd name="T3" fmla="*/ 40 h 40"/>
                <a:gd name="T4" fmla="*/ 307 w 307"/>
                <a:gd name="T5" fmla="*/ 20 h 40"/>
                <a:gd name="T6" fmla="*/ 287 w 307"/>
                <a:gd name="T7" fmla="*/ 0 h 40"/>
                <a:gd name="T8" fmla="*/ 20 w 307"/>
                <a:gd name="T9" fmla="*/ 0 h 40"/>
                <a:gd name="T10" fmla="*/ 0 w 307"/>
                <a:gd name="T11" fmla="*/ 20 h 40"/>
                <a:gd name="T12" fmla="*/ 20 w 307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0">
                  <a:moveTo>
                    <a:pt x="20" y="40"/>
                  </a:moveTo>
                  <a:cubicBezTo>
                    <a:pt x="287" y="40"/>
                    <a:pt x="287" y="40"/>
                    <a:pt x="287" y="40"/>
                  </a:cubicBezTo>
                  <a:cubicBezTo>
                    <a:pt x="298" y="40"/>
                    <a:pt x="307" y="31"/>
                    <a:pt x="307" y="20"/>
                  </a:cubicBezTo>
                  <a:cubicBezTo>
                    <a:pt x="307" y="9"/>
                    <a:pt x="298" y="0"/>
                    <a:pt x="28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8"/>
            <p:cNvSpPr/>
            <p:nvPr>
              <p:custDataLst>
                <p:tags r:id="rId21"/>
              </p:custDataLst>
            </p:nvPr>
          </p:nvSpPr>
          <p:spPr bwMode="auto">
            <a:xfrm>
              <a:off x="7595433" y="4221105"/>
              <a:ext cx="171911" cy="22341"/>
            </a:xfrm>
            <a:custGeom>
              <a:avLst/>
              <a:gdLst>
                <a:gd name="T0" fmla="*/ 20 w 307"/>
                <a:gd name="T1" fmla="*/ 40 h 40"/>
                <a:gd name="T2" fmla="*/ 287 w 307"/>
                <a:gd name="T3" fmla="*/ 40 h 40"/>
                <a:gd name="T4" fmla="*/ 307 w 307"/>
                <a:gd name="T5" fmla="*/ 20 h 40"/>
                <a:gd name="T6" fmla="*/ 287 w 307"/>
                <a:gd name="T7" fmla="*/ 0 h 40"/>
                <a:gd name="T8" fmla="*/ 20 w 307"/>
                <a:gd name="T9" fmla="*/ 0 h 40"/>
                <a:gd name="T10" fmla="*/ 0 w 307"/>
                <a:gd name="T11" fmla="*/ 20 h 40"/>
                <a:gd name="T12" fmla="*/ 20 w 307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0">
                  <a:moveTo>
                    <a:pt x="20" y="40"/>
                  </a:moveTo>
                  <a:cubicBezTo>
                    <a:pt x="287" y="40"/>
                    <a:pt x="287" y="40"/>
                    <a:pt x="287" y="40"/>
                  </a:cubicBezTo>
                  <a:cubicBezTo>
                    <a:pt x="298" y="40"/>
                    <a:pt x="307" y="31"/>
                    <a:pt x="307" y="20"/>
                  </a:cubicBezTo>
                  <a:cubicBezTo>
                    <a:pt x="307" y="9"/>
                    <a:pt x="298" y="0"/>
                    <a:pt x="28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9"/>
            <p:cNvSpPr/>
            <p:nvPr>
              <p:custDataLst>
                <p:tags r:id="rId22"/>
              </p:custDataLst>
            </p:nvPr>
          </p:nvSpPr>
          <p:spPr bwMode="auto">
            <a:xfrm>
              <a:off x="7595433" y="4331401"/>
              <a:ext cx="171911" cy="22341"/>
            </a:xfrm>
            <a:custGeom>
              <a:avLst/>
              <a:gdLst>
                <a:gd name="T0" fmla="*/ 20 w 307"/>
                <a:gd name="T1" fmla="*/ 40 h 40"/>
                <a:gd name="T2" fmla="*/ 287 w 307"/>
                <a:gd name="T3" fmla="*/ 40 h 40"/>
                <a:gd name="T4" fmla="*/ 307 w 307"/>
                <a:gd name="T5" fmla="*/ 20 h 40"/>
                <a:gd name="T6" fmla="*/ 287 w 307"/>
                <a:gd name="T7" fmla="*/ 0 h 40"/>
                <a:gd name="T8" fmla="*/ 20 w 307"/>
                <a:gd name="T9" fmla="*/ 0 h 40"/>
                <a:gd name="T10" fmla="*/ 0 w 307"/>
                <a:gd name="T11" fmla="*/ 20 h 40"/>
                <a:gd name="T12" fmla="*/ 20 w 307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0">
                  <a:moveTo>
                    <a:pt x="20" y="40"/>
                  </a:moveTo>
                  <a:cubicBezTo>
                    <a:pt x="287" y="40"/>
                    <a:pt x="287" y="40"/>
                    <a:pt x="287" y="40"/>
                  </a:cubicBezTo>
                  <a:cubicBezTo>
                    <a:pt x="298" y="40"/>
                    <a:pt x="307" y="32"/>
                    <a:pt x="307" y="20"/>
                  </a:cubicBezTo>
                  <a:cubicBezTo>
                    <a:pt x="307" y="9"/>
                    <a:pt x="298" y="0"/>
                    <a:pt x="28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10"/>
            <p:cNvSpPr/>
            <p:nvPr>
              <p:custDataLst>
                <p:tags r:id="rId23"/>
              </p:custDataLst>
            </p:nvPr>
          </p:nvSpPr>
          <p:spPr bwMode="auto">
            <a:xfrm>
              <a:off x="7595433" y="4386901"/>
              <a:ext cx="171911" cy="22341"/>
            </a:xfrm>
            <a:custGeom>
              <a:avLst/>
              <a:gdLst>
                <a:gd name="T0" fmla="*/ 20 w 307"/>
                <a:gd name="T1" fmla="*/ 40 h 40"/>
                <a:gd name="T2" fmla="*/ 287 w 307"/>
                <a:gd name="T3" fmla="*/ 40 h 40"/>
                <a:gd name="T4" fmla="*/ 307 w 307"/>
                <a:gd name="T5" fmla="*/ 20 h 40"/>
                <a:gd name="T6" fmla="*/ 287 w 307"/>
                <a:gd name="T7" fmla="*/ 0 h 40"/>
                <a:gd name="T8" fmla="*/ 20 w 307"/>
                <a:gd name="T9" fmla="*/ 0 h 40"/>
                <a:gd name="T10" fmla="*/ 0 w 307"/>
                <a:gd name="T11" fmla="*/ 20 h 40"/>
                <a:gd name="T12" fmla="*/ 20 w 307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40">
                  <a:moveTo>
                    <a:pt x="20" y="40"/>
                  </a:moveTo>
                  <a:cubicBezTo>
                    <a:pt x="287" y="40"/>
                    <a:pt x="287" y="40"/>
                    <a:pt x="287" y="40"/>
                  </a:cubicBezTo>
                  <a:cubicBezTo>
                    <a:pt x="298" y="40"/>
                    <a:pt x="307" y="31"/>
                    <a:pt x="307" y="20"/>
                  </a:cubicBezTo>
                  <a:cubicBezTo>
                    <a:pt x="307" y="9"/>
                    <a:pt x="298" y="0"/>
                    <a:pt x="287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5592741" y="3160314"/>
            <a:ext cx="3205120" cy="16352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cs typeface="Arial" panose="020B0604020202020204" pitchFamily="34" charset="0"/>
              </a:rPr>
              <a:t>未来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支持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GPU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加速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·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可验证密态计算框架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·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</a:rPr>
              <a:t>迈向多模态与后量子时代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00" y="1119140"/>
            <a:ext cx="2800074" cy="20651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-1"/>
            <a:ext cx="9144001" cy="5588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33866" y="9540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kern="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应用前景</a:t>
            </a:r>
            <a:endParaRPr lang="zh-CN" altLang="en-US" sz="2000" kern="10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708572" y="235295"/>
            <a:ext cx="206828" cy="123371"/>
            <a:chOff x="6709229" y="856343"/>
            <a:chExt cx="232229" cy="5805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/>
          <p:cNvCxnSpPr/>
          <p:nvPr/>
        </p:nvCxnSpPr>
        <p:spPr>
          <a:xfrm>
            <a:off x="228600" y="2447699"/>
            <a:ext cx="87722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>
          <a:xfrm>
            <a:off x="1056807" y="2325152"/>
            <a:ext cx="245110" cy="245110"/>
          </a:xfrm>
          <a:prstGeom prst="ellipse">
            <a:avLst/>
          </a:prstGeom>
          <a:ln w="28575">
            <a:solidFill>
              <a:srgbClr val="EFE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2821245" y="2325152"/>
            <a:ext cx="245110" cy="245745"/>
          </a:xfrm>
          <a:prstGeom prst="ellipse">
            <a:avLst/>
          </a:prstGeom>
          <a:ln w="28575">
            <a:solidFill>
              <a:srgbClr val="EFE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4524993" y="2325152"/>
            <a:ext cx="245110" cy="245745"/>
          </a:xfrm>
          <a:prstGeom prst="ellipse">
            <a:avLst/>
          </a:prstGeom>
          <a:ln w="28575">
            <a:solidFill>
              <a:srgbClr val="EFE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6346663" y="2325152"/>
            <a:ext cx="245745" cy="245110"/>
          </a:xfrm>
          <a:prstGeom prst="ellipse">
            <a:avLst/>
          </a:prstGeom>
          <a:ln w="28575">
            <a:solidFill>
              <a:srgbClr val="EFE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464507" y="2707727"/>
            <a:ext cx="1429709" cy="1963363"/>
          </a:xfrm>
          <a:custGeom>
            <a:avLst/>
            <a:gdLst>
              <a:gd name="connsiteX0" fmla="*/ 955963 w 1911927"/>
              <a:gd name="connsiteY0" fmla="*/ 0 h 1921164"/>
              <a:gd name="connsiteX1" fmla="*/ 1047034 w 1911927"/>
              <a:gd name="connsiteY1" fmla="*/ 157019 h 1921164"/>
              <a:gd name="connsiteX2" fmla="*/ 1761904 w 1911927"/>
              <a:gd name="connsiteY2" fmla="*/ 157019 h 1921164"/>
              <a:gd name="connsiteX3" fmla="*/ 1911927 w 1911927"/>
              <a:gd name="connsiteY3" fmla="*/ 307042 h 1921164"/>
              <a:gd name="connsiteX4" fmla="*/ 1911927 w 1911927"/>
              <a:gd name="connsiteY4" fmla="*/ 1771141 h 1921164"/>
              <a:gd name="connsiteX5" fmla="*/ 1761904 w 1911927"/>
              <a:gd name="connsiteY5" fmla="*/ 1921164 h 1921164"/>
              <a:gd name="connsiteX6" fmla="*/ 150023 w 1911927"/>
              <a:gd name="connsiteY6" fmla="*/ 1921164 h 1921164"/>
              <a:gd name="connsiteX7" fmla="*/ 0 w 1911927"/>
              <a:gd name="connsiteY7" fmla="*/ 1771141 h 1921164"/>
              <a:gd name="connsiteX8" fmla="*/ 0 w 1911927"/>
              <a:gd name="connsiteY8" fmla="*/ 307042 h 1921164"/>
              <a:gd name="connsiteX9" fmla="*/ 150023 w 1911927"/>
              <a:gd name="connsiteY9" fmla="*/ 157019 h 1921164"/>
              <a:gd name="connsiteX10" fmla="*/ 864892 w 1911927"/>
              <a:gd name="connsiteY10" fmla="*/ 157019 h 19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1927" h="1921164">
                <a:moveTo>
                  <a:pt x="955963" y="0"/>
                </a:moveTo>
                <a:lnTo>
                  <a:pt x="1047034" y="157019"/>
                </a:lnTo>
                <a:lnTo>
                  <a:pt x="1761904" y="157019"/>
                </a:lnTo>
                <a:cubicBezTo>
                  <a:pt x="1844759" y="157019"/>
                  <a:pt x="1911927" y="224187"/>
                  <a:pt x="1911927" y="307042"/>
                </a:cubicBezTo>
                <a:lnTo>
                  <a:pt x="1911927" y="1771141"/>
                </a:lnTo>
                <a:cubicBezTo>
                  <a:pt x="1911927" y="1853996"/>
                  <a:pt x="1844759" y="1921164"/>
                  <a:pt x="1761904" y="1921164"/>
                </a:cubicBezTo>
                <a:lnTo>
                  <a:pt x="150023" y="1921164"/>
                </a:lnTo>
                <a:cubicBezTo>
                  <a:pt x="67168" y="1921164"/>
                  <a:pt x="0" y="1853996"/>
                  <a:pt x="0" y="1771141"/>
                </a:cubicBezTo>
                <a:lnTo>
                  <a:pt x="0" y="307042"/>
                </a:lnTo>
                <a:cubicBezTo>
                  <a:pt x="0" y="224187"/>
                  <a:pt x="67168" y="157019"/>
                  <a:pt x="150023" y="157019"/>
                </a:cubicBezTo>
                <a:lnTo>
                  <a:pt x="864892" y="157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573106" y="3182801"/>
            <a:ext cx="1212508" cy="77959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智慧医疗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跨机构密态科研协作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</p:txBody>
      </p:sp>
      <p:sp>
        <p:nvSpPr>
          <p:cNvPr id="37" name="任意多边形: 形状 36"/>
          <p:cNvSpPr/>
          <p:nvPr/>
        </p:nvSpPr>
        <p:spPr>
          <a:xfrm>
            <a:off x="2212956" y="2714735"/>
            <a:ext cx="1477619" cy="1963363"/>
          </a:xfrm>
          <a:custGeom>
            <a:avLst/>
            <a:gdLst>
              <a:gd name="connsiteX0" fmla="*/ 955963 w 1911927"/>
              <a:gd name="connsiteY0" fmla="*/ 0 h 1921164"/>
              <a:gd name="connsiteX1" fmla="*/ 1047034 w 1911927"/>
              <a:gd name="connsiteY1" fmla="*/ 157019 h 1921164"/>
              <a:gd name="connsiteX2" fmla="*/ 1761904 w 1911927"/>
              <a:gd name="connsiteY2" fmla="*/ 157019 h 1921164"/>
              <a:gd name="connsiteX3" fmla="*/ 1911927 w 1911927"/>
              <a:gd name="connsiteY3" fmla="*/ 307042 h 1921164"/>
              <a:gd name="connsiteX4" fmla="*/ 1911927 w 1911927"/>
              <a:gd name="connsiteY4" fmla="*/ 1771141 h 1921164"/>
              <a:gd name="connsiteX5" fmla="*/ 1761904 w 1911927"/>
              <a:gd name="connsiteY5" fmla="*/ 1921164 h 1921164"/>
              <a:gd name="connsiteX6" fmla="*/ 150023 w 1911927"/>
              <a:gd name="connsiteY6" fmla="*/ 1921164 h 1921164"/>
              <a:gd name="connsiteX7" fmla="*/ 0 w 1911927"/>
              <a:gd name="connsiteY7" fmla="*/ 1771141 h 1921164"/>
              <a:gd name="connsiteX8" fmla="*/ 0 w 1911927"/>
              <a:gd name="connsiteY8" fmla="*/ 307042 h 1921164"/>
              <a:gd name="connsiteX9" fmla="*/ 150023 w 1911927"/>
              <a:gd name="connsiteY9" fmla="*/ 157019 h 1921164"/>
              <a:gd name="connsiteX10" fmla="*/ 864892 w 1911927"/>
              <a:gd name="connsiteY10" fmla="*/ 157019 h 19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1927" h="1921164">
                <a:moveTo>
                  <a:pt x="955963" y="0"/>
                </a:moveTo>
                <a:lnTo>
                  <a:pt x="1047034" y="157019"/>
                </a:lnTo>
                <a:lnTo>
                  <a:pt x="1761904" y="157019"/>
                </a:lnTo>
                <a:cubicBezTo>
                  <a:pt x="1844759" y="157019"/>
                  <a:pt x="1911927" y="224187"/>
                  <a:pt x="1911927" y="307042"/>
                </a:cubicBezTo>
                <a:lnTo>
                  <a:pt x="1911927" y="1771141"/>
                </a:lnTo>
                <a:cubicBezTo>
                  <a:pt x="1911927" y="1853996"/>
                  <a:pt x="1844759" y="1921164"/>
                  <a:pt x="1761904" y="1921164"/>
                </a:cubicBezTo>
                <a:lnTo>
                  <a:pt x="150023" y="1921164"/>
                </a:lnTo>
                <a:cubicBezTo>
                  <a:pt x="67168" y="1921164"/>
                  <a:pt x="0" y="1853996"/>
                  <a:pt x="0" y="1771141"/>
                </a:cubicBezTo>
                <a:lnTo>
                  <a:pt x="0" y="307042"/>
                </a:lnTo>
                <a:cubicBezTo>
                  <a:pt x="0" y="224187"/>
                  <a:pt x="67168" y="157019"/>
                  <a:pt x="150023" y="157019"/>
                </a:cubicBezTo>
                <a:lnTo>
                  <a:pt x="864892" y="157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2413364" y="3189778"/>
            <a:ext cx="1159964" cy="11468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临床诊疗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  <a:p>
            <a:pPr algn="ctr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加密检索辅助诊疗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 AI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925523" y="2714735"/>
            <a:ext cx="1444089" cy="1963363"/>
          </a:xfrm>
          <a:custGeom>
            <a:avLst/>
            <a:gdLst>
              <a:gd name="connsiteX0" fmla="*/ 955963 w 1911927"/>
              <a:gd name="connsiteY0" fmla="*/ 0 h 1921164"/>
              <a:gd name="connsiteX1" fmla="*/ 1047034 w 1911927"/>
              <a:gd name="connsiteY1" fmla="*/ 157019 h 1921164"/>
              <a:gd name="connsiteX2" fmla="*/ 1761904 w 1911927"/>
              <a:gd name="connsiteY2" fmla="*/ 157019 h 1921164"/>
              <a:gd name="connsiteX3" fmla="*/ 1911927 w 1911927"/>
              <a:gd name="connsiteY3" fmla="*/ 307042 h 1921164"/>
              <a:gd name="connsiteX4" fmla="*/ 1911927 w 1911927"/>
              <a:gd name="connsiteY4" fmla="*/ 1771141 h 1921164"/>
              <a:gd name="connsiteX5" fmla="*/ 1761904 w 1911927"/>
              <a:gd name="connsiteY5" fmla="*/ 1921164 h 1921164"/>
              <a:gd name="connsiteX6" fmla="*/ 150023 w 1911927"/>
              <a:gd name="connsiteY6" fmla="*/ 1921164 h 1921164"/>
              <a:gd name="connsiteX7" fmla="*/ 0 w 1911927"/>
              <a:gd name="connsiteY7" fmla="*/ 1771141 h 1921164"/>
              <a:gd name="connsiteX8" fmla="*/ 0 w 1911927"/>
              <a:gd name="connsiteY8" fmla="*/ 307042 h 1921164"/>
              <a:gd name="connsiteX9" fmla="*/ 150023 w 1911927"/>
              <a:gd name="connsiteY9" fmla="*/ 157019 h 1921164"/>
              <a:gd name="connsiteX10" fmla="*/ 864892 w 1911927"/>
              <a:gd name="connsiteY10" fmla="*/ 157019 h 19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1927" h="1921164">
                <a:moveTo>
                  <a:pt x="955963" y="0"/>
                </a:moveTo>
                <a:lnTo>
                  <a:pt x="1047034" y="157019"/>
                </a:lnTo>
                <a:lnTo>
                  <a:pt x="1761904" y="157019"/>
                </a:lnTo>
                <a:cubicBezTo>
                  <a:pt x="1844759" y="157019"/>
                  <a:pt x="1911927" y="224187"/>
                  <a:pt x="1911927" y="307042"/>
                </a:cubicBezTo>
                <a:lnTo>
                  <a:pt x="1911927" y="1771141"/>
                </a:lnTo>
                <a:cubicBezTo>
                  <a:pt x="1911927" y="1853996"/>
                  <a:pt x="1844759" y="1921164"/>
                  <a:pt x="1761904" y="1921164"/>
                </a:cubicBezTo>
                <a:lnTo>
                  <a:pt x="150023" y="1921164"/>
                </a:lnTo>
                <a:cubicBezTo>
                  <a:pt x="67168" y="1921164"/>
                  <a:pt x="0" y="1853996"/>
                  <a:pt x="0" y="1771141"/>
                </a:cubicBezTo>
                <a:lnTo>
                  <a:pt x="0" y="307042"/>
                </a:lnTo>
                <a:cubicBezTo>
                  <a:pt x="0" y="224187"/>
                  <a:pt x="67168" y="157019"/>
                  <a:pt x="150023" y="157019"/>
                </a:cubicBezTo>
                <a:lnTo>
                  <a:pt x="864892" y="157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4115717" y="3155420"/>
            <a:ext cx="1180948" cy="89973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金融风控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密态联合风控与反欺诈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5721807" y="2707727"/>
            <a:ext cx="1495461" cy="1963363"/>
          </a:xfrm>
          <a:custGeom>
            <a:avLst/>
            <a:gdLst>
              <a:gd name="connsiteX0" fmla="*/ 955963 w 1911927"/>
              <a:gd name="connsiteY0" fmla="*/ 0 h 1921164"/>
              <a:gd name="connsiteX1" fmla="*/ 1047034 w 1911927"/>
              <a:gd name="connsiteY1" fmla="*/ 157019 h 1921164"/>
              <a:gd name="connsiteX2" fmla="*/ 1761904 w 1911927"/>
              <a:gd name="connsiteY2" fmla="*/ 157019 h 1921164"/>
              <a:gd name="connsiteX3" fmla="*/ 1911927 w 1911927"/>
              <a:gd name="connsiteY3" fmla="*/ 307042 h 1921164"/>
              <a:gd name="connsiteX4" fmla="*/ 1911927 w 1911927"/>
              <a:gd name="connsiteY4" fmla="*/ 1771141 h 1921164"/>
              <a:gd name="connsiteX5" fmla="*/ 1761904 w 1911927"/>
              <a:gd name="connsiteY5" fmla="*/ 1921164 h 1921164"/>
              <a:gd name="connsiteX6" fmla="*/ 150023 w 1911927"/>
              <a:gd name="connsiteY6" fmla="*/ 1921164 h 1921164"/>
              <a:gd name="connsiteX7" fmla="*/ 0 w 1911927"/>
              <a:gd name="connsiteY7" fmla="*/ 1771141 h 1921164"/>
              <a:gd name="connsiteX8" fmla="*/ 0 w 1911927"/>
              <a:gd name="connsiteY8" fmla="*/ 307042 h 1921164"/>
              <a:gd name="connsiteX9" fmla="*/ 150023 w 1911927"/>
              <a:gd name="connsiteY9" fmla="*/ 157019 h 1921164"/>
              <a:gd name="connsiteX10" fmla="*/ 864892 w 1911927"/>
              <a:gd name="connsiteY10" fmla="*/ 157019 h 19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1927" h="1921164">
                <a:moveTo>
                  <a:pt x="955963" y="0"/>
                </a:moveTo>
                <a:lnTo>
                  <a:pt x="1047034" y="157019"/>
                </a:lnTo>
                <a:lnTo>
                  <a:pt x="1761904" y="157019"/>
                </a:lnTo>
                <a:cubicBezTo>
                  <a:pt x="1844759" y="157019"/>
                  <a:pt x="1911927" y="224187"/>
                  <a:pt x="1911927" y="307042"/>
                </a:cubicBezTo>
                <a:lnTo>
                  <a:pt x="1911927" y="1771141"/>
                </a:lnTo>
                <a:cubicBezTo>
                  <a:pt x="1911927" y="1853996"/>
                  <a:pt x="1844759" y="1921164"/>
                  <a:pt x="1761904" y="1921164"/>
                </a:cubicBezTo>
                <a:lnTo>
                  <a:pt x="150023" y="1921164"/>
                </a:lnTo>
                <a:cubicBezTo>
                  <a:pt x="67168" y="1921164"/>
                  <a:pt x="0" y="1853996"/>
                  <a:pt x="0" y="1771141"/>
                </a:cubicBezTo>
                <a:lnTo>
                  <a:pt x="0" y="307042"/>
                </a:lnTo>
                <a:cubicBezTo>
                  <a:pt x="0" y="224187"/>
                  <a:pt x="67168" y="157019"/>
                  <a:pt x="150023" y="157019"/>
                </a:cubicBezTo>
                <a:lnTo>
                  <a:pt x="864892" y="157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5931124" y="3155420"/>
            <a:ext cx="1286144" cy="133357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政务司法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加密数据共享与比对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117377" y="2293582"/>
            <a:ext cx="245745" cy="245110"/>
          </a:xfrm>
          <a:prstGeom prst="ellipse">
            <a:avLst/>
          </a:prstGeom>
          <a:ln w="28575">
            <a:solidFill>
              <a:srgbClr val="EFE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26"/>
          <p:cNvSpPr/>
          <p:nvPr/>
        </p:nvSpPr>
        <p:spPr>
          <a:xfrm>
            <a:off x="7492519" y="2707727"/>
            <a:ext cx="1495461" cy="1963363"/>
          </a:xfrm>
          <a:custGeom>
            <a:avLst/>
            <a:gdLst>
              <a:gd name="connsiteX0" fmla="*/ 955963 w 1911927"/>
              <a:gd name="connsiteY0" fmla="*/ 0 h 1921164"/>
              <a:gd name="connsiteX1" fmla="*/ 1047034 w 1911927"/>
              <a:gd name="connsiteY1" fmla="*/ 157019 h 1921164"/>
              <a:gd name="connsiteX2" fmla="*/ 1761904 w 1911927"/>
              <a:gd name="connsiteY2" fmla="*/ 157019 h 1921164"/>
              <a:gd name="connsiteX3" fmla="*/ 1911927 w 1911927"/>
              <a:gd name="connsiteY3" fmla="*/ 307042 h 1921164"/>
              <a:gd name="connsiteX4" fmla="*/ 1911927 w 1911927"/>
              <a:gd name="connsiteY4" fmla="*/ 1771141 h 1921164"/>
              <a:gd name="connsiteX5" fmla="*/ 1761904 w 1911927"/>
              <a:gd name="connsiteY5" fmla="*/ 1921164 h 1921164"/>
              <a:gd name="connsiteX6" fmla="*/ 150023 w 1911927"/>
              <a:gd name="connsiteY6" fmla="*/ 1921164 h 1921164"/>
              <a:gd name="connsiteX7" fmla="*/ 0 w 1911927"/>
              <a:gd name="connsiteY7" fmla="*/ 1771141 h 1921164"/>
              <a:gd name="connsiteX8" fmla="*/ 0 w 1911927"/>
              <a:gd name="connsiteY8" fmla="*/ 307042 h 1921164"/>
              <a:gd name="connsiteX9" fmla="*/ 150023 w 1911927"/>
              <a:gd name="connsiteY9" fmla="*/ 157019 h 1921164"/>
              <a:gd name="connsiteX10" fmla="*/ 864892 w 1911927"/>
              <a:gd name="connsiteY10" fmla="*/ 157019 h 19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11927" h="1921164">
                <a:moveTo>
                  <a:pt x="955963" y="0"/>
                </a:moveTo>
                <a:lnTo>
                  <a:pt x="1047034" y="157019"/>
                </a:lnTo>
                <a:lnTo>
                  <a:pt x="1761904" y="157019"/>
                </a:lnTo>
                <a:cubicBezTo>
                  <a:pt x="1844759" y="157019"/>
                  <a:pt x="1911927" y="224187"/>
                  <a:pt x="1911927" y="307042"/>
                </a:cubicBezTo>
                <a:lnTo>
                  <a:pt x="1911927" y="1771141"/>
                </a:lnTo>
                <a:cubicBezTo>
                  <a:pt x="1911927" y="1853996"/>
                  <a:pt x="1844759" y="1921164"/>
                  <a:pt x="1761904" y="1921164"/>
                </a:cubicBezTo>
                <a:lnTo>
                  <a:pt x="150023" y="1921164"/>
                </a:lnTo>
                <a:cubicBezTo>
                  <a:pt x="67168" y="1921164"/>
                  <a:pt x="0" y="1853996"/>
                  <a:pt x="0" y="1771141"/>
                </a:cubicBezTo>
                <a:lnTo>
                  <a:pt x="0" y="307042"/>
                </a:lnTo>
                <a:cubicBezTo>
                  <a:pt x="0" y="224187"/>
                  <a:pt x="67168" y="157019"/>
                  <a:pt x="150023" y="157019"/>
                </a:cubicBezTo>
                <a:lnTo>
                  <a:pt x="864892" y="157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7687429" y="3100693"/>
            <a:ext cx="1213564" cy="132689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685800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思源宋体 CN Heavy"/>
                <a:sym typeface="汉仪旗黑-50S"/>
              </a:rPr>
              <a:t>企业隐私检索与设备协同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思源宋体 CN Heavy"/>
              <a:sym typeface="汉仪旗黑-50S"/>
            </a:endParaRPr>
          </a:p>
        </p:txBody>
      </p:sp>
      <p:pic>
        <p:nvPicPr>
          <p:cNvPr id="16" name="图片 15" descr="post_object_image_40859356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254" y="1041778"/>
            <a:ext cx="1587548" cy="1077366"/>
          </a:xfrm>
          <a:prstGeom prst="roundRect">
            <a:avLst>
              <a:gd name="adj" fmla="val 11500"/>
            </a:avLst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20" name="图片 19" descr="post_object_image_1004336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33" y="1031027"/>
            <a:ext cx="1677577" cy="1132541"/>
          </a:xfrm>
          <a:prstGeom prst="roundRect">
            <a:avLst>
              <a:gd name="adj" fmla="val 11000"/>
            </a:avLst>
          </a:prstGeom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r="4192" b="7843"/>
          <a:stretch>
            <a:fillRect/>
          </a:stretch>
        </p:blipFill>
        <p:spPr>
          <a:xfrm>
            <a:off x="297120" y="1033874"/>
            <a:ext cx="1637665" cy="10541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rcRect l="3377" t="877"/>
          <a:stretch>
            <a:fillRect/>
          </a:stretch>
        </p:blipFill>
        <p:spPr>
          <a:xfrm>
            <a:off x="2095500" y="1049284"/>
            <a:ext cx="1638935" cy="1062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rcRect l="2178" t="2410"/>
          <a:stretch>
            <a:fillRect/>
          </a:stretch>
        </p:blipFill>
        <p:spPr>
          <a:xfrm>
            <a:off x="3850604" y="1044034"/>
            <a:ext cx="1727835" cy="104394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1" cy="1491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汉仪旗黑-50S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061845" y="2698391"/>
            <a:ext cx="52882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kern="100" dirty="0">
                <a:solidFill>
                  <a:schemeClr val="accent1"/>
                </a:solidFill>
                <a:latin typeface="思源宋体 CN Heavy" pitchFamily="18" charset="-122"/>
                <a:ea typeface="思源宋体 CN Heavy" pitchFamily="18" charset="-122"/>
                <a:sym typeface="汉仪旗黑-50S"/>
              </a:rPr>
              <a:t>敬请各位评委批评指正</a:t>
            </a:r>
            <a:endParaRPr lang="zh-CN" altLang="en-US" sz="4000" b="1" kern="100" dirty="0">
              <a:solidFill>
                <a:schemeClr val="accent1"/>
              </a:solidFill>
              <a:latin typeface="思源宋体 CN Heavy" pitchFamily="18" charset="-122"/>
              <a:ea typeface="思源宋体 CN Heavy" pitchFamily="18" charset="-122"/>
              <a:sym typeface="汉仪旗黑-50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02130" y="3447415"/>
            <a:ext cx="596328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 Rounded MT" charset="0"/>
                <a:ea typeface="Arial Rounded MT" charset="0"/>
                <a:cs typeface="Arial Rounded MT" charset="0"/>
                <a:sym typeface="汉仪旗黑-50S"/>
              </a:rPr>
              <a:t>Your Comments And Suggestions Are Welcome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Arial Rounded MT" charset="0"/>
              <a:ea typeface="Arial Rounded MT" charset="0"/>
              <a:cs typeface="Arial Rounded MT" charset="0"/>
              <a:sym typeface="汉仪旗黑-50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738489" y="766689"/>
            <a:ext cx="1673695" cy="1667021"/>
          </a:xfrm>
          <a:prstGeom prst="ellipse">
            <a:avLst/>
          </a:prstGeom>
          <a:ln w="57150">
            <a:solidFill>
              <a:srgbClr val="EEF2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708572" y="355945"/>
            <a:ext cx="206828" cy="123371"/>
            <a:chOff x="6709229" y="856343"/>
            <a:chExt cx="232229" cy="5805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3769895" y="3970421"/>
            <a:ext cx="16042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91"/>
          <p:cNvSpPr/>
          <p:nvPr/>
        </p:nvSpPr>
        <p:spPr bwMode="auto">
          <a:xfrm>
            <a:off x="4340208" y="1428800"/>
            <a:ext cx="463611" cy="342763"/>
          </a:xfrm>
          <a:custGeom>
            <a:avLst/>
            <a:gdLst>
              <a:gd name="T0" fmla="*/ 938 w 953"/>
              <a:gd name="T1" fmla="*/ 198 h 704"/>
              <a:gd name="T2" fmla="*/ 485 w 953"/>
              <a:gd name="T3" fmla="*/ 3 h 704"/>
              <a:gd name="T4" fmla="*/ 477 w 953"/>
              <a:gd name="T5" fmla="*/ 0 h 704"/>
              <a:gd name="T6" fmla="*/ 468 w 953"/>
              <a:gd name="T7" fmla="*/ 3 h 704"/>
              <a:gd name="T8" fmla="*/ 15 w 953"/>
              <a:gd name="T9" fmla="*/ 198 h 704"/>
              <a:gd name="T10" fmla="*/ 0 w 953"/>
              <a:gd name="T11" fmla="*/ 223 h 704"/>
              <a:gd name="T12" fmla="*/ 15 w 953"/>
              <a:gd name="T13" fmla="*/ 249 h 704"/>
              <a:gd name="T14" fmla="*/ 468 w 953"/>
              <a:gd name="T15" fmla="*/ 444 h 704"/>
              <a:gd name="T16" fmla="*/ 485 w 953"/>
              <a:gd name="T17" fmla="*/ 444 h 704"/>
              <a:gd name="T18" fmla="*/ 838 w 953"/>
              <a:gd name="T19" fmla="*/ 293 h 704"/>
              <a:gd name="T20" fmla="*/ 838 w 953"/>
              <a:gd name="T21" fmla="*/ 448 h 704"/>
              <a:gd name="T22" fmla="*/ 805 w 953"/>
              <a:gd name="T23" fmla="*/ 505 h 704"/>
              <a:gd name="T24" fmla="*/ 838 w 953"/>
              <a:gd name="T25" fmla="*/ 562 h 704"/>
              <a:gd name="T26" fmla="*/ 838 w 953"/>
              <a:gd name="T27" fmla="*/ 615 h 704"/>
              <a:gd name="T28" fmla="*/ 884 w 953"/>
              <a:gd name="T29" fmla="*/ 615 h 704"/>
              <a:gd name="T30" fmla="*/ 884 w 953"/>
              <a:gd name="T31" fmla="*/ 562 h 704"/>
              <a:gd name="T32" fmla="*/ 915 w 953"/>
              <a:gd name="T33" fmla="*/ 505 h 704"/>
              <a:gd name="T34" fmla="*/ 884 w 953"/>
              <a:gd name="T35" fmla="*/ 448 h 704"/>
              <a:gd name="T36" fmla="*/ 884 w 953"/>
              <a:gd name="T37" fmla="*/ 272 h 704"/>
              <a:gd name="T38" fmla="*/ 938 w 953"/>
              <a:gd name="T39" fmla="*/ 249 h 704"/>
              <a:gd name="T40" fmla="*/ 953 w 953"/>
              <a:gd name="T41" fmla="*/ 223 h 704"/>
              <a:gd name="T42" fmla="*/ 938 w 953"/>
              <a:gd name="T43" fmla="*/ 198 h 704"/>
              <a:gd name="T44" fmla="*/ 477 w 953"/>
              <a:gd name="T45" fmla="*/ 483 h 704"/>
              <a:gd name="T46" fmla="*/ 457 w 953"/>
              <a:gd name="T47" fmla="*/ 479 h 704"/>
              <a:gd name="T48" fmla="*/ 174 w 953"/>
              <a:gd name="T49" fmla="*/ 358 h 704"/>
              <a:gd name="T50" fmla="*/ 174 w 953"/>
              <a:gd name="T51" fmla="*/ 526 h 704"/>
              <a:gd name="T52" fmla="*/ 445 w 953"/>
              <a:gd name="T53" fmla="*/ 704 h 704"/>
              <a:gd name="T54" fmla="*/ 509 w 953"/>
              <a:gd name="T55" fmla="*/ 704 h 704"/>
              <a:gd name="T56" fmla="*/ 779 w 953"/>
              <a:gd name="T57" fmla="*/ 526 h 704"/>
              <a:gd name="T58" fmla="*/ 779 w 953"/>
              <a:gd name="T59" fmla="*/ 358 h 704"/>
              <a:gd name="T60" fmla="*/ 496 w 953"/>
              <a:gd name="T61" fmla="*/ 479 h 704"/>
              <a:gd name="T62" fmla="*/ 477 w 953"/>
              <a:gd name="T63" fmla="*/ 483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3" h="704">
                <a:moveTo>
                  <a:pt x="938" y="198"/>
                </a:moveTo>
                <a:cubicBezTo>
                  <a:pt x="485" y="3"/>
                  <a:pt x="485" y="3"/>
                  <a:pt x="485" y="3"/>
                </a:cubicBezTo>
                <a:cubicBezTo>
                  <a:pt x="483" y="2"/>
                  <a:pt x="480" y="0"/>
                  <a:pt x="477" y="0"/>
                </a:cubicBezTo>
                <a:cubicBezTo>
                  <a:pt x="473" y="0"/>
                  <a:pt x="470" y="2"/>
                  <a:pt x="468" y="3"/>
                </a:cubicBezTo>
                <a:cubicBezTo>
                  <a:pt x="15" y="198"/>
                  <a:pt x="15" y="198"/>
                  <a:pt x="15" y="198"/>
                </a:cubicBezTo>
                <a:cubicBezTo>
                  <a:pt x="5" y="202"/>
                  <a:pt x="0" y="211"/>
                  <a:pt x="0" y="223"/>
                </a:cubicBezTo>
                <a:cubicBezTo>
                  <a:pt x="0" y="234"/>
                  <a:pt x="5" y="245"/>
                  <a:pt x="15" y="249"/>
                </a:cubicBezTo>
                <a:cubicBezTo>
                  <a:pt x="468" y="444"/>
                  <a:pt x="468" y="444"/>
                  <a:pt x="468" y="444"/>
                </a:cubicBezTo>
                <a:cubicBezTo>
                  <a:pt x="473" y="447"/>
                  <a:pt x="480" y="447"/>
                  <a:pt x="485" y="444"/>
                </a:cubicBezTo>
                <a:cubicBezTo>
                  <a:pt x="838" y="293"/>
                  <a:pt x="838" y="293"/>
                  <a:pt x="838" y="293"/>
                </a:cubicBezTo>
                <a:cubicBezTo>
                  <a:pt x="838" y="448"/>
                  <a:pt x="838" y="448"/>
                  <a:pt x="838" y="448"/>
                </a:cubicBezTo>
                <a:cubicBezTo>
                  <a:pt x="819" y="457"/>
                  <a:pt x="805" y="479"/>
                  <a:pt x="805" y="505"/>
                </a:cubicBezTo>
                <a:cubicBezTo>
                  <a:pt x="805" y="530"/>
                  <a:pt x="819" y="551"/>
                  <a:pt x="838" y="562"/>
                </a:cubicBezTo>
                <a:cubicBezTo>
                  <a:pt x="838" y="615"/>
                  <a:pt x="838" y="615"/>
                  <a:pt x="838" y="615"/>
                </a:cubicBezTo>
                <a:cubicBezTo>
                  <a:pt x="884" y="615"/>
                  <a:pt x="884" y="615"/>
                  <a:pt x="884" y="615"/>
                </a:cubicBezTo>
                <a:cubicBezTo>
                  <a:pt x="884" y="562"/>
                  <a:pt x="884" y="562"/>
                  <a:pt x="884" y="562"/>
                </a:cubicBezTo>
                <a:cubicBezTo>
                  <a:pt x="903" y="551"/>
                  <a:pt x="915" y="530"/>
                  <a:pt x="915" y="505"/>
                </a:cubicBezTo>
                <a:cubicBezTo>
                  <a:pt x="915" y="479"/>
                  <a:pt x="903" y="457"/>
                  <a:pt x="884" y="448"/>
                </a:cubicBezTo>
                <a:cubicBezTo>
                  <a:pt x="884" y="272"/>
                  <a:pt x="884" y="272"/>
                  <a:pt x="884" y="272"/>
                </a:cubicBezTo>
                <a:cubicBezTo>
                  <a:pt x="938" y="249"/>
                  <a:pt x="938" y="249"/>
                  <a:pt x="938" y="249"/>
                </a:cubicBezTo>
                <a:cubicBezTo>
                  <a:pt x="948" y="245"/>
                  <a:pt x="953" y="234"/>
                  <a:pt x="953" y="223"/>
                </a:cubicBezTo>
                <a:cubicBezTo>
                  <a:pt x="953" y="211"/>
                  <a:pt x="948" y="202"/>
                  <a:pt x="938" y="198"/>
                </a:cubicBezTo>
                <a:close/>
                <a:moveTo>
                  <a:pt x="477" y="483"/>
                </a:moveTo>
                <a:cubicBezTo>
                  <a:pt x="470" y="483"/>
                  <a:pt x="462" y="482"/>
                  <a:pt x="457" y="479"/>
                </a:cubicBezTo>
                <a:cubicBezTo>
                  <a:pt x="174" y="358"/>
                  <a:pt x="174" y="358"/>
                  <a:pt x="174" y="358"/>
                </a:cubicBezTo>
                <a:cubicBezTo>
                  <a:pt x="174" y="526"/>
                  <a:pt x="174" y="526"/>
                  <a:pt x="174" y="526"/>
                </a:cubicBezTo>
                <a:cubicBezTo>
                  <a:pt x="174" y="663"/>
                  <a:pt x="381" y="704"/>
                  <a:pt x="445" y="704"/>
                </a:cubicBezTo>
                <a:cubicBezTo>
                  <a:pt x="509" y="704"/>
                  <a:pt x="509" y="704"/>
                  <a:pt x="509" y="704"/>
                </a:cubicBezTo>
                <a:cubicBezTo>
                  <a:pt x="558" y="704"/>
                  <a:pt x="779" y="663"/>
                  <a:pt x="779" y="526"/>
                </a:cubicBezTo>
                <a:cubicBezTo>
                  <a:pt x="779" y="358"/>
                  <a:pt x="779" y="358"/>
                  <a:pt x="779" y="358"/>
                </a:cubicBezTo>
                <a:cubicBezTo>
                  <a:pt x="496" y="479"/>
                  <a:pt x="496" y="479"/>
                  <a:pt x="496" y="479"/>
                </a:cubicBezTo>
                <a:cubicBezTo>
                  <a:pt x="491" y="482"/>
                  <a:pt x="484" y="483"/>
                  <a:pt x="477" y="483"/>
                </a:cubicBezTo>
                <a:close/>
              </a:path>
            </a:pathLst>
          </a:cu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六角星 9"/>
          <p:cNvSpPr/>
          <p:nvPr userDrawn="1"/>
        </p:nvSpPr>
        <p:spPr>
          <a:xfrm>
            <a:off x="3864463" y="818220"/>
            <a:ext cx="1434991" cy="1563923"/>
          </a:xfrm>
          <a:prstGeom prst="star6">
            <a:avLst/>
          </a:prstGeom>
          <a:noFill/>
          <a:ln w="12700" cap="flat" cmpd="sng" algn="ctr">
            <a:solidFill>
              <a:schemeClr val="bg1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2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3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4.xml><?xml version="1.0" encoding="utf-8"?>
<p:tagLst xmlns:p="http://schemas.openxmlformats.org/presentationml/2006/main">
  <p:tag name="KSO_WM_DIAGRAM_VIRTUALLY_FRAME" val="{&quot;height&quot;:128.4032729169973,&quot;left&quot;:64.75,&quot;top&quot;:203.19999999999996,&quot;width&quot;:614.45}"/>
</p:tagLst>
</file>

<file path=ppt/tags/tag5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6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7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8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9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10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11.xml><?xml version="1.0" encoding="utf-8"?>
<p:tagLst xmlns:p="http://schemas.openxmlformats.org/presentationml/2006/main">
  <p:tag name="KSO_WM_DIAGRAM_VIRTUALLY_FRAME" val="{&quot;height&quot;:323.5606299212598,&quot;left&quot;:399.6157480314961,&quot;top&quot;:120.48913385826772,&quot;width&quot;:388.69173228346455}"/>
</p:tagLst>
</file>

<file path=ppt/tags/tag12.xml><?xml version="1.0" encoding="utf-8"?>
<p:tagLst xmlns:p="http://schemas.openxmlformats.org/presentationml/2006/main">
  <p:tag name="KSO_WM_DIAGRAM_VIRTUALLY_FRAME" val="{&quot;height&quot;:128.4032729169973,&quot;left&quot;:64.75,&quot;top&quot;:203.19999999999996,&quot;width&quot;:614.45}"/>
</p:tagLst>
</file>

<file path=ppt/tags/tag13.xml><?xml version="1.0" encoding="utf-8"?>
<p:tagLst xmlns:p="http://schemas.openxmlformats.org/presentationml/2006/main">
  <p:tag name="KSO_WM_DIAGRAM_VIRTUALLY_FRAME" val="{&quot;height&quot;:128.4032729169973,&quot;left&quot;:64.75,&quot;top&quot;:203.19999999999996,&quot;width&quot;:614.45}"/>
</p:tagLst>
</file>

<file path=ppt/tags/tag14.xml><?xml version="1.0" encoding="utf-8"?>
<p:tagLst xmlns:p="http://schemas.openxmlformats.org/presentationml/2006/main">
  <p:tag name="KSO_WM_DIAGRAM_VIRTUALLY_FRAME" val="{&quot;height&quot;:128.4032729169973,&quot;left&quot;:64.75,&quot;top&quot;:203.19999999999996,&quot;width&quot;:614.45}"/>
</p:tagLst>
</file>

<file path=ppt/tags/tag15.xml><?xml version="1.0" encoding="utf-8"?>
<p:tagLst xmlns:p="http://schemas.openxmlformats.org/presentationml/2006/main">
  <p:tag name="KSO_WM_UNIT_VALUE" val="24*24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2"/>
  <p:tag name="KSO_WM_UNIT_ID" val="diagram20200184_2*m_h_x*1_1_2"/>
  <p:tag name="KSO_WM_TEMPLATE_CATEGORY" val="diagram"/>
  <p:tag name="KSO_WM_TEMPLATE_INDEX" val="20200184"/>
  <p:tag name="KSO_WM_UNIT_LAYERLEVEL" val="1_1_1"/>
  <p:tag name="KSO_WM_TAG_VERSION" val="1.0"/>
  <p:tag name="KSO_WM_BEAUTIFY_FLAG" val="#wm#"/>
  <p:tag name="KSO_WM_DIAGRAM_VIRTUALLY_FRAME" val="{&quot;height&quot;:298.0186614173228,&quot;left&quot;:13.687874015748031,&quot;top&quot;:93.35409448818898,&quot;width&quot;:679.314409448819}"/>
</p:tagLst>
</file>

<file path=ppt/tags/tag16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17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18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19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0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1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2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3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4.xml><?xml version="1.0" encoding="utf-8"?>
<p:tagLst xmlns:p="http://schemas.openxmlformats.org/presentationml/2006/main">
  <p:tag name="KSO_WM_DIAGRAM_VIRTUALLY_FRAME" val="{&quot;height&quot;:247.54700787401575,&quot;left&quot;:23.044015748031494,&quot;top&quot;:106.91448818897638,&quot;width&quot;:673.911968503937}"/>
</p:tagLst>
</file>

<file path=ppt/tags/tag25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26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27.xml><?xml version="1.0" encoding="utf-8"?>
<p:tagLst xmlns:p="http://schemas.openxmlformats.org/presentationml/2006/main">
  <p:tag name="KSO_WM_DIAGRAM_VIRTUALLY_FRAME" val="{&quot;height&quot;:302.3469291338583,&quot;left&quot;:1.4393700787401573,&quot;top&quot;:43.25307086614173,&quot;width&quot;:719.111968503937}"/>
</p:tagLst>
</file>

<file path=ppt/tags/tag28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29.xml><?xml version="1.0" encoding="utf-8"?>
<p:tagLst xmlns:p="http://schemas.openxmlformats.org/presentationml/2006/main">
  <p:tag name="KSO_WM_DIAGRAM_VIRTUALLY_FRAME" val="{&quot;height&quot;:302.3469291338583,&quot;left&quot;:1.4393700787401573,&quot;top&quot;:43.25307086614173,&quot;width&quot;:719.111968503937}"/>
</p:tagLst>
</file>

<file path=ppt/tags/tag30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1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2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3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4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5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6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7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8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39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40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41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42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43.xml><?xml version="1.0" encoding="utf-8"?>
<p:tagLst xmlns:p="http://schemas.openxmlformats.org/presentationml/2006/main">
  <p:tag name="KSO_WM_DIAGRAM_VIRTUALLY_FRAME" val="{&quot;height&quot;:285.6,&quot;left&quot;:46,&quot;top&quot;:45.85,&quot;width&quot;:656}"/>
</p:tagLst>
</file>

<file path=ppt/tags/tag44.xml><?xml version="1.0" encoding="utf-8"?>
<p:tagLst xmlns:p="http://schemas.openxmlformats.org/presentationml/2006/main">
  <p:tag name="TABLE_ENDDRAG_ORIGIN_RECT" val="622*177"/>
  <p:tag name="TABLE_ENDDRAG_RECT" val="39*78*622*177"/>
</p:tagLst>
</file>

<file path=ppt/tags/tag45.xml><?xml version="1.0" encoding="utf-8"?>
<p:tagLst xmlns:p="http://schemas.openxmlformats.org/presentationml/2006/main">
  <p:tag name="TABLE_ENDDRAG_ORIGIN_RECT" val="594*284"/>
  <p:tag name="TABLE_ENDDRAG_RECT" val="108*82*594*284"/>
</p:tagLst>
</file>

<file path=ppt/tags/tag46.xml><?xml version="1.0" encoding="utf-8"?>
<p:tagLst xmlns:p="http://schemas.openxmlformats.org/presentationml/2006/main">
  <p:tag name="TABLE_ENDDRAG_ORIGIN_RECT" val="605*301"/>
  <p:tag name="TABLE_ENDDRAG_RECT" val="65*69*605*301"/>
</p:tagLst>
</file>

<file path=ppt/tags/tag47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48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49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0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1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2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3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4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5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6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7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8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59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0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1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2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3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4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5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6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7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8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ags/tag69.xml><?xml version="1.0" encoding="utf-8"?>
<p:tagLst xmlns:p="http://schemas.openxmlformats.org/presentationml/2006/main">
  <p:tag name="KSO_WM_DIAGRAM_VIRTUALLY_FRAME" val="{&quot;height&quot;:294.5,&quot;left&quot;:15.25,&quot;top&quot;:79.9,&quot;width&quot;:375.87968503937003}"/>
</p:tagLst>
</file>

<file path=ppt/theme/theme1.xml><?xml version="1.0" encoding="utf-8"?>
<a:theme xmlns:a="http://schemas.openxmlformats.org/drawingml/2006/main" name="第一PPT，www.1ppt.com">
  <a:themeElements>
    <a:clrScheme name="蓝色清新答辩1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304371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汉仪雅酷黑 65W">
      <a:majorFont>
        <a:latin typeface="汉仪旗黑-50S"/>
        <a:ea typeface="汉仪雅酷黑 65W"/>
        <a:cs typeface="Arial"/>
      </a:majorFont>
      <a:minorFont>
        <a:latin typeface="汉仪旗黑-50S"/>
        <a:ea typeface="汉仪旗黑-50S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汉仪旗黑-50S"/>
        <a:font script="Hebr" typeface="汉仪旗黑-50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S"/>
        <a:font script="Uigh" typeface="Microsoft Uighur"/>
        <a:font script="Geor" typeface="Sylfaen"/>
      </a:majorFont>
      <a:min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汉仪旗黑-50S"/>
        <a:font script="Hebr" typeface="汉仪旗黑-50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S"/>
        <a:font script="Uigh" typeface="Microsoft Uighur"/>
        <a:font script="Geor" typeface="Sylfaen"/>
      </a:majorFont>
      <a:minorFont>
        <a:latin typeface="汉仪旗黑-50S"/>
        <a:ea typeface="汉仪旗黑-50S"/>
        <a:cs typeface="Arial"/>
        <a:font script="Jpan" typeface="ＭＳ Ｐゴシック"/>
        <a:font script="Hang" typeface="맑은 고딕"/>
        <a:font script="Hans" typeface="汉仪旗黑-50S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2812</Words>
  <Application>WPS 演示</Application>
  <PresentationFormat>全屏显示(16:9)</PresentationFormat>
  <Paragraphs>571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汉仪旗黑-50S</vt:lpstr>
      <vt:lpstr>思源宋体 CN Heavy</vt:lpstr>
      <vt:lpstr>Arial Rounded MT</vt:lpstr>
      <vt:lpstr>Calibri Light</vt:lpstr>
      <vt:lpstr>方正宋刻本秀楷简体</vt:lpstr>
      <vt:lpstr>Arial</vt:lpstr>
      <vt:lpstr>黑体</vt:lpstr>
      <vt:lpstr>思源宋体 CN Heavy</vt:lpstr>
      <vt:lpstr>Arial Unicode MS</vt:lpstr>
      <vt:lpstr>Open Sans Bold</vt:lpstr>
      <vt:lpstr>Cambria Math</vt:lpstr>
      <vt:lpstr>Adobe 黑体 Std R</vt:lpstr>
      <vt:lpstr>Times New Roman</vt:lpstr>
      <vt:lpstr>Segoe UI</vt:lpstr>
      <vt:lpstr>等线</vt:lpstr>
      <vt:lpstr>汉仪雅酷黑 65W</vt:lpstr>
      <vt:lpstr>Adobe 黑体 Std R</vt:lpstr>
      <vt:lpstr>Open Sans Bold</vt:lpstr>
      <vt:lpstr>Wingdings</vt:lpstr>
      <vt:lpstr>思源宋体 CN Heavy</vt:lpstr>
      <vt:lpstr>汉仪旗黑-50S</vt:lpstr>
      <vt:lpstr>汉仪旗黑-50简</vt:lpstr>
      <vt:lpstr>兰米宋体</vt:lpstr>
      <vt:lpstr>Wonder Arial</vt:lpstr>
      <vt:lpstr>Wonder Sans Bold</vt:lpstr>
      <vt:lpstr>Libra Std Regular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高级答辩</dc:title>
  <dc:creator>第一PPT</dc:creator>
  <cp:keywords>www.1ppt.com</cp:keywords>
  <dc:description>www.1ppt.com</dc:description>
  <cp:lastModifiedBy>姜良萍</cp:lastModifiedBy>
  <cp:revision>52</cp:revision>
  <dcterms:created xsi:type="dcterms:W3CDTF">1900-01-01T00:00:00Z</dcterms:created>
  <dcterms:modified xsi:type="dcterms:W3CDTF">2026-05-26T08:59:00Z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24EA0AA9B82D4CDDAA8213A9C10B150A_13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v1.0_mb_nCm6L9xiEG7jF5Ub3wU6/A==</vt:lpwstr>
  </property>
</Properties>
</file>